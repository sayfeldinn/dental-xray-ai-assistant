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Good morning. We are the DentalAI team from Alexandria University. Dentists read panoramic X-rays every day, often under time pressure. DentalAI gives them a second opinion on every scan, while the dentist stays in charge of every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[0:15–0:45] Here is the problem. Subtle lesions, like early caries or a periapical lesion, are easy to miss on a busy day. A patient's history is scattered across paper files and different software. Before prescribing, the dentist checks allergies and drug interactions from memory. And most AI tools stop at detection: when the dentist disagrees, that correction is simply lost. Each of these slows the dentist down or puts the patient at risk.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[0:45–1:15] Our answer is a closed loop, with the dentist at its centre. The X-ray goes in, the AI marks findings tooth by tooth, and the dentist confirms, rejects or edits each one. Only confirmed findings drive a treatment plan, which is checked for drug safety, confirmed again by the dentist, and saved to the patient's record. Every correction is logged, so it can become training data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[1:15–1:45] Under the hood, three models work in sequence. A YOLOv8 nano model finds the four quadrants, a YOLOv8 detector finds four kinds of findings, and a Random Forest assigns each finding to its tooth number. Around it, a React interface talks to a FastAPI backend that holds our safety rules, the inference service, and Supabase for the database, sign-in and private image storage. Every request is authenticated, and each dentist sees only their own patients.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[1:45–2:15] On a held-out benchmark of twenty-three panoramic images with one hundred and twenty-two detections, the pipeline gave the right finding label ninety-seven point five percent of the time, the right tooth seventy-six percent, and both seventy-five percent. Tooth numbering is clearly our weakest point, and twenty-three images is a small test, so we treat these as early results, not clinical performance. Every finding shows its confidence, and nothing is final until the dentist confirms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[2:15–2:40] Safety is built into the workflow. Every AI finding stays pending until the dentist acts. Here the patient is allergic to penicillin, so amoxicillin is excluded, clindamycin is suggested, and the dentist cannot accept it without acknowledging the warning. A contraindicated drug needs a written reason. The AI proposes; the dentist decides.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[2:40–3:00] Today the full loop works end to end and is covered by about two hundred automated tests. Next comes a clinic pilot, clinician validation of our rules, retraining from the logged corrections, and compliance with Egypt's data protection law. Thank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for judge questions. Not part of the 3-minute talk.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Competitors detect findings well. Our difference is the loop: dentist confirmation, treatment and drug-safety checks, the record, and logged corrections, in one workflow.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the high mAP numbers in the MLv2 notebook were measured on training images. The held-out benchmark is the only generalization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limits before judges do. Each one has a next step: a larger test set, calibration, a pilot, retraining, clinician review.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not processed real patient data. PDPL compliance is a planned step, not a claim.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numbers come from the repository test runs on 21 Oct 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Liability stays with the dentist: the system never finalises a drug; flagged drugs need acknowledgement or a written reason, stored for audit.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ro_faded_crop.png"/>
          <p:cNvPicPr>
            <a:picLocks noChangeAspect="1"/>
          </p:cNvPicPr>
          <p:nvPr/>
        </p:nvPicPr>
        <p:blipFill>
          <a:blip r:embed="rId2"/>
          <a:stretch>
            <a:fillRect/>
          </a:stretch>
        </p:blipFill>
        <p:spPr>
          <a:xfrm>
            <a:off x="5669280" y="0"/>
            <a:ext cx="6522415" cy="6858000"/>
          </a:xfrm>
          <a:prstGeom prst="rect">
            <a:avLst/>
          </a:prstGeom>
        </p:spPr>
      </p:pic>
      <p:sp>
        <p:nvSpPr>
          <p:cNvPr id="3" name="TextBox 2"/>
          <p:cNvSpPr txBox="1"/>
          <p:nvPr/>
        </p:nvSpPr>
        <p:spPr>
          <a:xfrm>
            <a:off x="640080" y="1234440"/>
            <a:ext cx="4937760" cy="1097280"/>
          </a:xfrm>
          <a:prstGeom prst="rect">
            <a:avLst/>
          </a:prstGeom>
          <a:noFill/>
        </p:spPr>
        <p:txBody>
          <a:bodyPr wrap="square" anchor="t" lIns="36576" rIns="36576" tIns="18288" bIns="18288">
            <a:spAutoFit/>
          </a:bodyPr>
          <a:lstStyle/>
          <a:p>
            <a:pPr algn="l">
              <a:lnSpc>
                <a:spcPct val="105000"/>
              </a:lnSpc>
            </a:pPr>
            <a:r>
              <a:rPr sz="6000" b="1">
                <a:solidFill>
                  <a:srgbClr val="0B2545"/>
                </a:solidFill>
                <a:latin typeface="Calibri"/>
              </a:rPr>
              <a:t>DentalAI</a:t>
            </a:r>
          </a:p>
        </p:txBody>
      </p:sp>
      <p:sp>
        <p:nvSpPr>
          <p:cNvPr id="4" name="Rectangle 3"/>
          <p:cNvSpPr/>
          <p:nvPr/>
        </p:nvSpPr>
        <p:spPr>
          <a:xfrm>
            <a:off x="676656" y="2286000"/>
            <a:ext cx="1005840" cy="64008"/>
          </a:xfrm>
          <a:prstGeom prst="rect">
            <a:avLst/>
          </a:prstGeom>
          <a:solidFill>
            <a:srgbClr val="13A89E"/>
          </a:solidFill>
          <a:ln>
            <a:noFill/>
          </a:ln>
          <a:effectLst/>
        </p:spPr>
        <p:txBody>
          <a:bodyPr rtlCol="0" anchor="ctr"/>
          <a:lstStyle/>
          <a:p>
            <a:pPr algn="ctr"/>
          </a:p>
        </p:txBody>
      </p:sp>
      <p:sp>
        <p:nvSpPr>
          <p:cNvPr id="5" name="TextBox 4"/>
          <p:cNvSpPr txBox="1"/>
          <p:nvPr/>
        </p:nvSpPr>
        <p:spPr>
          <a:xfrm>
            <a:off x="640080" y="2514600"/>
            <a:ext cx="4846320" cy="1280160"/>
          </a:xfrm>
          <a:prstGeom prst="rect">
            <a:avLst/>
          </a:prstGeom>
          <a:noFill/>
        </p:spPr>
        <p:txBody>
          <a:bodyPr wrap="square" anchor="t" lIns="36576" rIns="36576" tIns="18288" bIns="18288">
            <a:spAutoFit/>
          </a:bodyPr>
          <a:lstStyle/>
          <a:p>
            <a:pPr algn="l">
              <a:lnSpc>
                <a:spcPct val="105000"/>
              </a:lnSpc>
            </a:pPr>
            <a:r>
              <a:rPr sz="2200" b="0">
                <a:solidFill>
                  <a:srgbClr val="1E2A38"/>
                </a:solidFill>
                <a:latin typeface="Calibri"/>
              </a:rPr>
              <a:t>A second opinion on every</a:t>
            </a:r>
          </a:p>
          <a:p>
            <a:pPr algn="l">
              <a:lnSpc>
                <a:spcPct val="105000"/>
              </a:lnSpc>
            </a:pPr>
            <a:r>
              <a:rPr sz="2200" b="0">
                <a:solidFill>
                  <a:srgbClr val="1E2A38"/>
                </a:solidFill>
                <a:latin typeface="Calibri"/>
              </a:rPr>
              <a:t>panoramic X-ray — the dentist</a:t>
            </a:r>
          </a:p>
          <a:p>
            <a:pPr algn="l">
              <a:lnSpc>
                <a:spcPct val="105000"/>
              </a:lnSpc>
            </a:pPr>
            <a:r>
              <a:rPr sz="2200" b="0">
                <a:solidFill>
                  <a:srgbClr val="1E2A38"/>
                </a:solidFill>
                <a:latin typeface="Calibri"/>
              </a:rPr>
              <a:t>stays in charge</a:t>
            </a:r>
          </a:p>
        </p:txBody>
      </p:sp>
      <p:sp>
        <p:nvSpPr>
          <p:cNvPr id="6" name="TextBox 5"/>
          <p:cNvSpPr txBox="1"/>
          <p:nvPr/>
        </p:nvSpPr>
        <p:spPr>
          <a:xfrm>
            <a:off x="640080" y="4069080"/>
            <a:ext cx="4846320" cy="1463040"/>
          </a:xfrm>
          <a:prstGeom prst="rect">
            <a:avLst/>
          </a:prstGeom>
          <a:noFill/>
        </p:spPr>
        <p:txBody>
          <a:bodyPr wrap="square" anchor="t" lIns="36576" rIns="36576" tIns="18288" bIns="18288">
            <a:spAutoFit/>
          </a:bodyPr>
          <a:lstStyle/>
          <a:p>
            <a:pPr algn="l">
              <a:lnSpc>
                <a:spcPct val="120000"/>
              </a:lnSpc>
            </a:pPr>
            <a:r>
              <a:rPr sz="1400" b="1">
                <a:solidFill>
                  <a:srgbClr val="5B6B7C"/>
                </a:solidFill>
                <a:latin typeface="Calibri"/>
              </a:rPr>
              <a:t>Team:</a:t>
            </a:r>
            <a:r>
              <a:rPr sz="1400" b="0">
                <a:solidFill>
                  <a:srgbClr val="5B6B7C"/>
                </a:solidFill>
                <a:latin typeface="Calibri"/>
              </a:rPr>
              <a:t> Seif Ahmed · Abdullah Tarek Habashy · </a:t>
            </a:r>
            <a:r>
              <a:rPr sz="1400" b="0">
                <a:solidFill>
                  <a:srgbClr val="1E2A38"/>
                </a:solidFill>
                <a:latin typeface="Calibri"/>
                <a:highlight>
                  <a:srgbClr val="FFFF00"/>
                </a:highlight>
              </a:rPr>
              <a:t>3 team names: UNVERIFIED</a:t>
            </a:r>
          </a:p>
          <a:p>
            <a:pPr algn="l">
              <a:lnSpc>
                <a:spcPct val="120000"/>
              </a:lnSpc>
            </a:pPr>
            <a:r>
              <a:rPr sz="1400" b="0">
                <a:solidFill>
                  <a:srgbClr val="5B6B7C"/>
                </a:solidFill>
                <a:latin typeface="Calibri"/>
              </a:rPr>
              <a:t>Alexandria University (CDS) · Advisor: Ashraf Eshta</a:t>
            </a:r>
          </a:p>
          <a:p>
            <a:pPr algn="l">
              <a:lnSpc>
                <a:spcPct val="120000"/>
              </a:lnSpc>
            </a:pPr>
            <a:r>
              <a:rPr sz="1400" b="0">
                <a:solidFill>
                  <a:srgbClr val="5B6B7C"/>
                </a:solidFill>
                <a:latin typeface="Calibri"/>
              </a:rPr>
              <a:t>IEEE IC-FTAI 2026 · Student Project Track</a:t>
            </a:r>
          </a:p>
        </p:txBody>
      </p:sp>
      <p:sp>
        <p:nvSpPr>
          <p:cNvPr id="7" name="TextBox 6"/>
          <p:cNvSpPr txBox="1"/>
          <p:nvPr/>
        </p:nvSpPr>
        <p:spPr>
          <a:xfrm>
            <a:off x="640080" y="6355080"/>
            <a:ext cx="4754880" cy="320040"/>
          </a:xfrm>
          <a:prstGeom prst="rect">
            <a:avLst/>
          </a:prstGeom>
          <a:noFill/>
        </p:spPr>
        <p:txBody>
          <a:bodyPr wrap="square" anchor="t" lIns="36576" rIns="36576" tIns="18288" bIns="18288">
            <a:spAutoFit/>
          </a:bodyPr>
          <a:lstStyle/>
          <a:p>
            <a:pPr algn="l">
              <a:lnSpc>
                <a:spcPct val="105000"/>
              </a:lnSpc>
            </a:pPr>
            <a:r>
              <a:rPr sz="900" b="0">
                <a:solidFill>
                  <a:srgbClr val="5B6B7C"/>
                </a:solidFill>
                <a:latin typeface="Calibri"/>
              </a:rPr>
              <a:t>Background: shipped model on a public DENTEX image (CC BY-NC-SA)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The problem</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2</a:t>
            </a:r>
          </a:p>
        </p:txBody>
      </p:sp>
      <p:sp>
        <p:nvSpPr>
          <p:cNvPr id="6" name="Rounded Rectangle 5"/>
          <p:cNvSpPr/>
          <p:nvPr/>
        </p:nvSpPr>
        <p:spPr>
          <a:xfrm>
            <a:off x="548640" y="1600200"/>
            <a:ext cx="5394960" cy="1920240"/>
          </a:xfrm>
          <a:prstGeom prst="roundRect">
            <a:avLst>
              <a:gd name="adj" fmla="val 8000"/>
            </a:avLst>
          </a:prstGeom>
          <a:solidFill>
            <a:srgbClr val="F4F6F8"/>
          </a:solidFill>
          <a:ln>
            <a:noFill/>
          </a:ln>
          <a:effectLst/>
        </p:spPr>
        <p:txBody>
          <a:bodyPr rtlCol="0" anchor="ctr"/>
          <a:lstStyle/>
          <a:p>
            <a:pPr algn="ctr"/>
          </a:p>
        </p:txBody>
      </p:sp>
      <p:sp>
        <p:nvSpPr>
          <p:cNvPr id="7" name="Rectangle 6"/>
          <p:cNvSpPr/>
          <p:nvPr/>
        </p:nvSpPr>
        <p:spPr>
          <a:xfrm>
            <a:off x="548640" y="1600200"/>
            <a:ext cx="109728" cy="1920240"/>
          </a:xfrm>
          <a:prstGeom prst="rect">
            <a:avLst/>
          </a:prstGeom>
          <a:solidFill>
            <a:srgbClr val="13A89E"/>
          </a:solidFill>
          <a:ln>
            <a:noFill/>
          </a:ln>
          <a:effectLst/>
        </p:spPr>
        <p:txBody>
          <a:bodyPr rtlCol="0" anchor="ctr"/>
          <a:lstStyle/>
          <a:p>
            <a:pPr algn="ctr"/>
          </a:p>
        </p:txBody>
      </p:sp>
      <p:sp>
        <p:nvSpPr>
          <p:cNvPr id="8" name="TextBox 7"/>
          <p:cNvSpPr txBox="1"/>
          <p:nvPr/>
        </p:nvSpPr>
        <p:spPr>
          <a:xfrm>
            <a:off x="960120" y="1965960"/>
            <a:ext cx="4754880" cy="548640"/>
          </a:xfrm>
          <a:prstGeom prst="rect">
            <a:avLst/>
          </a:prstGeom>
          <a:noFill/>
        </p:spPr>
        <p:txBody>
          <a:bodyPr wrap="square" anchor="t" lIns="36576" rIns="36576" tIns="18288" bIns="18288">
            <a:spAutoFit/>
          </a:bodyPr>
          <a:lstStyle/>
          <a:p>
            <a:pPr algn="l">
              <a:lnSpc>
                <a:spcPct val="105000"/>
              </a:lnSpc>
            </a:pPr>
            <a:r>
              <a:rPr sz="2400" b="1">
                <a:solidFill>
                  <a:srgbClr val="0B2545"/>
                </a:solidFill>
                <a:latin typeface="Calibri"/>
              </a:rPr>
              <a:t>Findings get missed</a:t>
            </a:r>
          </a:p>
        </p:txBody>
      </p:sp>
      <p:sp>
        <p:nvSpPr>
          <p:cNvPr id="9" name="TextBox 8"/>
          <p:cNvSpPr txBox="1"/>
          <p:nvPr/>
        </p:nvSpPr>
        <p:spPr>
          <a:xfrm>
            <a:off x="960120" y="2606040"/>
            <a:ext cx="4754880" cy="731520"/>
          </a:xfrm>
          <a:prstGeom prst="rect">
            <a:avLst/>
          </a:prstGeom>
          <a:noFill/>
        </p:spPr>
        <p:txBody>
          <a:bodyPr wrap="square" anchor="t" lIns="36576" rIns="36576" tIns="18288" bIns="18288">
            <a:spAutoFit/>
          </a:bodyPr>
          <a:lstStyle/>
          <a:p>
            <a:pPr algn="l">
              <a:lnSpc>
                <a:spcPct val="105000"/>
              </a:lnSpc>
            </a:pPr>
            <a:r>
              <a:rPr sz="1700" b="0">
                <a:solidFill>
                  <a:srgbClr val="5B6B7C"/>
                </a:solidFill>
                <a:latin typeface="Calibri"/>
              </a:rPr>
              <a:t>Easy to overlook on a busy day.</a:t>
            </a:r>
          </a:p>
        </p:txBody>
      </p:sp>
      <p:sp>
        <p:nvSpPr>
          <p:cNvPr id="10" name="Rounded Rectangle 9"/>
          <p:cNvSpPr/>
          <p:nvPr/>
        </p:nvSpPr>
        <p:spPr>
          <a:xfrm>
            <a:off x="6172200" y="1600200"/>
            <a:ext cx="5394960" cy="1920240"/>
          </a:xfrm>
          <a:prstGeom prst="roundRect">
            <a:avLst>
              <a:gd name="adj" fmla="val 8000"/>
            </a:avLst>
          </a:prstGeom>
          <a:solidFill>
            <a:srgbClr val="F4F6F8"/>
          </a:solidFill>
          <a:ln>
            <a:noFill/>
          </a:ln>
          <a:effectLst/>
        </p:spPr>
        <p:txBody>
          <a:bodyPr rtlCol="0" anchor="ctr"/>
          <a:lstStyle/>
          <a:p>
            <a:pPr algn="ctr"/>
          </a:p>
        </p:txBody>
      </p:sp>
      <p:sp>
        <p:nvSpPr>
          <p:cNvPr id="11" name="Rectangle 10"/>
          <p:cNvSpPr/>
          <p:nvPr/>
        </p:nvSpPr>
        <p:spPr>
          <a:xfrm>
            <a:off x="6172200" y="1600200"/>
            <a:ext cx="109728" cy="1920240"/>
          </a:xfrm>
          <a:prstGeom prst="rect">
            <a:avLst/>
          </a:prstGeom>
          <a:solidFill>
            <a:srgbClr val="13A89E"/>
          </a:solidFill>
          <a:ln>
            <a:noFill/>
          </a:ln>
          <a:effectLst/>
        </p:spPr>
        <p:txBody>
          <a:bodyPr rtlCol="0" anchor="ctr"/>
          <a:lstStyle/>
          <a:p>
            <a:pPr algn="ctr"/>
          </a:p>
        </p:txBody>
      </p:sp>
      <p:sp>
        <p:nvSpPr>
          <p:cNvPr id="12" name="TextBox 11"/>
          <p:cNvSpPr txBox="1"/>
          <p:nvPr/>
        </p:nvSpPr>
        <p:spPr>
          <a:xfrm>
            <a:off x="6583680" y="1965960"/>
            <a:ext cx="4754880" cy="548640"/>
          </a:xfrm>
          <a:prstGeom prst="rect">
            <a:avLst/>
          </a:prstGeom>
          <a:noFill/>
        </p:spPr>
        <p:txBody>
          <a:bodyPr wrap="square" anchor="t" lIns="36576" rIns="36576" tIns="18288" bIns="18288">
            <a:spAutoFit/>
          </a:bodyPr>
          <a:lstStyle/>
          <a:p>
            <a:pPr algn="l">
              <a:lnSpc>
                <a:spcPct val="105000"/>
              </a:lnSpc>
            </a:pPr>
            <a:r>
              <a:rPr sz="2400" b="1">
                <a:solidFill>
                  <a:srgbClr val="0B2545"/>
                </a:solidFill>
                <a:latin typeface="Calibri"/>
              </a:rPr>
              <a:t>History is scattered</a:t>
            </a:r>
          </a:p>
        </p:txBody>
      </p:sp>
      <p:sp>
        <p:nvSpPr>
          <p:cNvPr id="13" name="TextBox 12"/>
          <p:cNvSpPr txBox="1"/>
          <p:nvPr/>
        </p:nvSpPr>
        <p:spPr>
          <a:xfrm>
            <a:off x="6583680" y="2606040"/>
            <a:ext cx="4754880" cy="731520"/>
          </a:xfrm>
          <a:prstGeom prst="rect">
            <a:avLst/>
          </a:prstGeom>
          <a:noFill/>
        </p:spPr>
        <p:txBody>
          <a:bodyPr wrap="square" anchor="t" lIns="36576" rIns="36576" tIns="18288" bIns="18288">
            <a:spAutoFit/>
          </a:bodyPr>
          <a:lstStyle/>
          <a:p>
            <a:pPr algn="l">
              <a:lnSpc>
                <a:spcPct val="105000"/>
              </a:lnSpc>
            </a:pPr>
            <a:r>
              <a:rPr sz="1700" b="0">
                <a:solidFill>
                  <a:srgbClr val="5B6B7C"/>
                </a:solidFill>
                <a:latin typeface="Calibri"/>
              </a:rPr>
              <a:t>Paper files, separate software.</a:t>
            </a:r>
          </a:p>
        </p:txBody>
      </p:sp>
      <p:sp>
        <p:nvSpPr>
          <p:cNvPr id="14" name="Rounded Rectangle 13"/>
          <p:cNvSpPr/>
          <p:nvPr/>
        </p:nvSpPr>
        <p:spPr>
          <a:xfrm>
            <a:off x="548640" y="3840480"/>
            <a:ext cx="5394960" cy="1920240"/>
          </a:xfrm>
          <a:prstGeom prst="roundRect">
            <a:avLst>
              <a:gd name="adj" fmla="val 8000"/>
            </a:avLst>
          </a:prstGeom>
          <a:solidFill>
            <a:srgbClr val="F4F6F8"/>
          </a:solidFill>
          <a:ln>
            <a:noFill/>
          </a:ln>
          <a:effectLst/>
        </p:spPr>
        <p:txBody>
          <a:bodyPr rtlCol="0" anchor="ctr"/>
          <a:lstStyle/>
          <a:p>
            <a:pPr algn="ctr"/>
          </a:p>
        </p:txBody>
      </p:sp>
      <p:sp>
        <p:nvSpPr>
          <p:cNvPr id="15" name="Rectangle 14"/>
          <p:cNvSpPr/>
          <p:nvPr/>
        </p:nvSpPr>
        <p:spPr>
          <a:xfrm>
            <a:off x="548640" y="3840480"/>
            <a:ext cx="109728" cy="1920240"/>
          </a:xfrm>
          <a:prstGeom prst="rect">
            <a:avLst/>
          </a:prstGeom>
          <a:solidFill>
            <a:srgbClr val="F5A623"/>
          </a:solidFill>
          <a:ln>
            <a:noFill/>
          </a:ln>
          <a:effectLst/>
        </p:spPr>
        <p:txBody>
          <a:bodyPr rtlCol="0" anchor="ctr"/>
          <a:lstStyle/>
          <a:p>
            <a:pPr algn="ctr"/>
          </a:p>
        </p:txBody>
      </p:sp>
      <p:sp>
        <p:nvSpPr>
          <p:cNvPr id="16" name="TextBox 15"/>
          <p:cNvSpPr txBox="1"/>
          <p:nvPr/>
        </p:nvSpPr>
        <p:spPr>
          <a:xfrm>
            <a:off x="960120" y="4206240"/>
            <a:ext cx="4754880" cy="548640"/>
          </a:xfrm>
          <a:prstGeom prst="rect">
            <a:avLst/>
          </a:prstGeom>
          <a:noFill/>
        </p:spPr>
        <p:txBody>
          <a:bodyPr wrap="square" anchor="t" lIns="36576" rIns="36576" tIns="18288" bIns="18288">
            <a:spAutoFit/>
          </a:bodyPr>
          <a:lstStyle/>
          <a:p>
            <a:pPr algn="l">
              <a:lnSpc>
                <a:spcPct val="105000"/>
              </a:lnSpc>
            </a:pPr>
            <a:r>
              <a:rPr sz="2400" b="1">
                <a:solidFill>
                  <a:srgbClr val="0B2545"/>
                </a:solidFill>
                <a:latin typeface="Calibri"/>
              </a:rPr>
              <a:t>Drug safety from memory</a:t>
            </a:r>
          </a:p>
        </p:txBody>
      </p:sp>
      <p:sp>
        <p:nvSpPr>
          <p:cNvPr id="17" name="TextBox 16"/>
          <p:cNvSpPr txBox="1"/>
          <p:nvPr/>
        </p:nvSpPr>
        <p:spPr>
          <a:xfrm>
            <a:off x="960120" y="4846320"/>
            <a:ext cx="4754880" cy="731520"/>
          </a:xfrm>
          <a:prstGeom prst="rect">
            <a:avLst/>
          </a:prstGeom>
          <a:noFill/>
        </p:spPr>
        <p:txBody>
          <a:bodyPr wrap="square" anchor="t" lIns="36576" rIns="36576" tIns="18288" bIns="18288">
            <a:spAutoFit/>
          </a:bodyPr>
          <a:lstStyle/>
          <a:p>
            <a:pPr algn="l">
              <a:lnSpc>
                <a:spcPct val="105000"/>
              </a:lnSpc>
            </a:pPr>
            <a:r>
              <a:rPr sz="1700" b="0">
                <a:solidFill>
                  <a:srgbClr val="5B6B7C"/>
                </a:solidFill>
                <a:latin typeface="Calibri"/>
              </a:rPr>
              <a:t>Allergies checked by recall.</a:t>
            </a:r>
          </a:p>
        </p:txBody>
      </p:sp>
      <p:sp>
        <p:nvSpPr>
          <p:cNvPr id="18" name="Rounded Rectangle 17"/>
          <p:cNvSpPr/>
          <p:nvPr/>
        </p:nvSpPr>
        <p:spPr>
          <a:xfrm>
            <a:off x="6172200" y="3840480"/>
            <a:ext cx="5394960" cy="1920240"/>
          </a:xfrm>
          <a:prstGeom prst="roundRect">
            <a:avLst>
              <a:gd name="adj" fmla="val 8000"/>
            </a:avLst>
          </a:prstGeom>
          <a:solidFill>
            <a:srgbClr val="F4F6F8"/>
          </a:solidFill>
          <a:ln>
            <a:noFill/>
          </a:ln>
          <a:effectLst/>
        </p:spPr>
        <p:txBody>
          <a:bodyPr rtlCol="0" anchor="ctr"/>
          <a:lstStyle/>
          <a:p>
            <a:pPr algn="ctr"/>
          </a:p>
        </p:txBody>
      </p:sp>
      <p:sp>
        <p:nvSpPr>
          <p:cNvPr id="19" name="Rectangle 18"/>
          <p:cNvSpPr/>
          <p:nvPr/>
        </p:nvSpPr>
        <p:spPr>
          <a:xfrm>
            <a:off x="6172200" y="3840480"/>
            <a:ext cx="109728" cy="1920240"/>
          </a:xfrm>
          <a:prstGeom prst="rect">
            <a:avLst/>
          </a:prstGeom>
          <a:solidFill>
            <a:srgbClr val="13A89E"/>
          </a:solidFill>
          <a:ln>
            <a:noFill/>
          </a:ln>
          <a:effectLst/>
        </p:spPr>
        <p:txBody>
          <a:bodyPr rtlCol="0" anchor="ctr"/>
          <a:lstStyle/>
          <a:p>
            <a:pPr algn="ctr"/>
          </a:p>
        </p:txBody>
      </p:sp>
      <p:sp>
        <p:nvSpPr>
          <p:cNvPr id="20" name="TextBox 19"/>
          <p:cNvSpPr txBox="1"/>
          <p:nvPr/>
        </p:nvSpPr>
        <p:spPr>
          <a:xfrm>
            <a:off x="6583680" y="4206240"/>
            <a:ext cx="4754880" cy="548640"/>
          </a:xfrm>
          <a:prstGeom prst="rect">
            <a:avLst/>
          </a:prstGeom>
          <a:noFill/>
        </p:spPr>
        <p:txBody>
          <a:bodyPr wrap="square" anchor="t" lIns="36576" rIns="36576" tIns="18288" bIns="18288">
            <a:spAutoFit/>
          </a:bodyPr>
          <a:lstStyle/>
          <a:p>
            <a:pPr algn="l">
              <a:lnSpc>
                <a:spcPct val="105000"/>
              </a:lnSpc>
            </a:pPr>
            <a:r>
              <a:rPr sz="2400" b="1">
                <a:solidFill>
                  <a:srgbClr val="0B2545"/>
                </a:solidFill>
                <a:latin typeface="Calibri"/>
              </a:rPr>
              <a:t>AI ignores the dentist</a:t>
            </a:r>
          </a:p>
        </p:txBody>
      </p:sp>
      <p:sp>
        <p:nvSpPr>
          <p:cNvPr id="21" name="TextBox 20"/>
          <p:cNvSpPr txBox="1"/>
          <p:nvPr/>
        </p:nvSpPr>
        <p:spPr>
          <a:xfrm>
            <a:off x="6583680" y="4846320"/>
            <a:ext cx="4754880" cy="731520"/>
          </a:xfrm>
          <a:prstGeom prst="rect">
            <a:avLst/>
          </a:prstGeom>
          <a:noFill/>
        </p:spPr>
        <p:txBody>
          <a:bodyPr wrap="square" anchor="t" lIns="36576" rIns="36576" tIns="18288" bIns="18288">
            <a:spAutoFit/>
          </a:bodyPr>
          <a:lstStyle/>
          <a:p>
            <a:pPr algn="l">
              <a:lnSpc>
                <a:spcPct val="105000"/>
              </a:lnSpc>
            </a:pPr>
            <a:r>
              <a:rPr sz="1700" b="0">
                <a:solidFill>
                  <a:srgbClr val="5B6B7C"/>
                </a:solidFill>
                <a:latin typeface="Calibri"/>
              </a:rPr>
              <a:t>Corrections are simply lost.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Our solution: the closed loop</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3</a:t>
            </a:r>
          </a:p>
        </p:txBody>
      </p:sp>
      <p:pic>
        <p:nvPicPr>
          <p:cNvPr id="6" name="Picture 5" descr="loop_large.png"/>
          <p:cNvPicPr>
            <a:picLocks noChangeAspect="1"/>
          </p:cNvPicPr>
          <p:nvPr/>
        </p:nvPicPr>
        <p:blipFill>
          <a:blip r:embed="rId2"/>
          <a:stretch>
            <a:fillRect/>
          </a:stretch>
        </p:blipFill>
        <p:spPr>
          <a:xfrm>
            <a:off x="523289" y="1234440"/>
            <a:ext cx="6634380" cy="5074920"/>
          </a:xfrm>
          <a:prstGeom prst="rect">
            <a:avLst/>
          </a:prstGeom>
        </p:spPr>
      </p:pic>
      <p:sp>
        <p:nvSpPr>
          <p:cNvPr id="7" name="TextBox 6"/>
          <p:cNvSpPr txBox="1"/>
          <p:nvPr/>
        </p:nvSpPr>
        <p:spPr>
          <a:xfrm>
            <a:off x="7543800" y="2011680"/>
            <a:ext cx="4114800" cy="914400"/>
          </a:xfrm>
          <a:prstGeom prst="rect">
            <a:avLst/>
          </a:prstGeom>
          <a:noFill/>
        </p:spPr>
        <p:txBody>
          <a:bodyPr wrap="square" anchor="t" lIns="36576" rIns="36576" tIns="18288" bIns="18288">
            <a:spAutoFit/>
          </a:bodyPr>
          <a:lstStyle/>
          <a:p>
            <a:pPr algn="l">
              <a:lnSpc>
                <a:spcPct val="105000"/>
              </a:lnSpc>
            </a:pPr>
            <a:r>
              <a:rPr sz="3000" b="1">
                <a:solidFill>
                  <a:srgbClr val="5B6B7C"/>
                </a:solidFill>
                <a:latin typeface="Calibri"/>
              </a:rPr>
              <a:t>Others detect.</a:t>
            </a:r>
          </a:p>
        </p:txBody>
      </p:sp>
      <p:sp>
        <p:nvSpPr>
          <p:cNvPr id="8" name="TextBox 7"/>
          <p:cNvSpPr txBox="1"/>
          <p:nvPr/>
        </p:nvSpPr>
        <p:spPr>
          <a:xfrm>
            <a:off x="7543800" y="2697480"/>
            <a:ext cx="4114800" cy="1463040"/>
          </a:xfrm>
          <a:prstGeom prst="rect">
            <a:avLst/>
          </a:prstGeom>
          <a:noFill/>
        </p:spPr>
        <p:txBody>
          <a:bodyPr wrap="square" anchor="t" lIns="36576" rIns="36576" tIns="18288" bIns="18288">
            <a:spAutoFit/>
          </a:bodyPr>
          <a:lstStyle/>
          <a:p>
            <a:pPr algn="l">
              <a:lnSpc>
                <a:spcPct val="105000"/>
              </a:lnSpc>
            </a:pPr>
            <a:r>
              <a:rPr sz="2600" b="1">
                <a:solidFill>
                  <a:srgbClr val="0B2545"/>
                </a:solidFill>
                <a:latin typeface="Calibri"/>
              </a:rPr>
              <a:t>DentalAI connects detection, decision, treatment and record.</a:t>
            </a:r>
          </a:p>
        </p:txBody>
      </p:sp>
      <p:sp>
        <p:nvSpPr>
          <p:cNvPr id="9" name="TextBox 8"/>
          <p:cNvSpPr txBox="1"/>
          <p:nvPr/>
        </p:nvSpPr>
        <p:spPr>
          <a:xfrm>
            <a:off x="7543800" y="4343400"/>
            <a:ext cx="4114800" cy="1097280"/>
          </a:xfrm>
          <a:prstGeom prst="rect">
            <a:avLst/>
          </a:prstGeom>
          <a:noFill/>
        </p:spPr>
        <p:txBody>
          <a:bodyPr wrap="square" anchor="t" lIns="36576" rIns="36576" tIns="18288" bIns="18288">
            <a:spAutoFit/>
          </a:bodyPr>
          <a:lstStyle/>
          <a:p>
            <a:pPr algn="l">
              <a:lnSpc>
                <a:spcPct val="105000"/>
              </a:lnSpc>
            </a:pPr>
            <a:r>
              <a:rPr sz="1800" b="0">
                <a:solidFill>
                  <a:srgbClr val="13A89E"/>
                </a:solidFill>
                <a:latin typeface="Calibri"/>
              </a:rPr>
              <a:t>Every correction is logged as future training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How it works</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4</a:t>
            </a:r>
          </a:p>
        </p:txBody>
      </p:sp>
      <p:sp>
        <p:nvSpPr>
          <p:cNvPr id="6" name="TextBox 5"/>
          <p:cNvSpPr txBox="1"/>
          <p:nvPr/>
        </p:nvSpPr>
        <p:spPr>
          <a:xfrm>
            <a:off x="548640" y="1280160"/>
            <a:ext cx="5486400" cy="365760"/>
          </a:xfrm>
          <a:prstGeom prst="rect">
            <a:avLst/>
          </a:prstGeom>
          <a:noFill/>
        </p:spPr>
        <p:txBody>
          <a:bodyPr wrap="square" anchor="t" lIns="36576" rIns="36576" tIns="18288" bIns="18288">
            <a:spAutoFit/>
          </a:bodyPr>
          <a:lstStyle/>
          <a:p>
            <a:pPr algn="l">
              <a:lnSpc>
                <a:spcPct val="105000"/>
              </a:lnSpc>
            </a:pPr>
            <a:r>
              <a:rPr sz="1600" b="1">
                <a:solidFill>
                  <a:srgbClr val="13A89E"/>
                </a:solidFill>
                <a:latin typeface="Calibri"/>
              </a:rPr>
              <a:t>Model pipeline</a:t>
            </a:r>
          </a:p>
        </p:txBody>
      </p:sp>
      <p:pic>
        <p:nvPicPr>
          <p:cNvPr id="7" name="Picture 6" descr="model_arch.png"/>
          <p:cNvPicPr>
            <a:picLocks noChangeAspect="1"/>
          </p:cNvPicPr>
          <p:nvPr/>
        </p:nvPicPr>
        <p:blipFill>
          <a:blip r:embed="rId2"/>
          <a:stretch>
            <a:fillRect/>
          </a:stretch>
        </p:blipFill>
        <p:spPr>
          <a:xfrm>
            <a:off x="2457017" y="1645920"/>
            <a:ext cx="7247484" cy="2194560"/>
          </a:xfrm>
          <a:prstGeom prst="rect">
            <a:avLst/>
          </a:prstGeom>
        </p:spPr>
      </p:pic>
      <p:sp>
        <p:nvSpPr>
          <p:cNvPr id="8" name="TextBox 7"/>
          <p:cNvSpPr txBox="1"/>
          <p:nvPr/>
        </p:nvSpPr>
        <p:spPr>
          <a:xfrm>
            <a:off x="548640" y="3886200"/>
            <a:ext cx="5486400" cy="365760"/>
          </a:xfrm>
          <a:prstGeom prst="rect">
            <a:avLst/>
          </a:prstGeom>
          <a:noFill/>
        </p:spPr>
        <p:txBody>
          <a:bodyPr wrap="square" anchor="t" lIns="36576" rIns="36576" tIns="18288" bIns="18288">
            <a:spAutoFit/>
          </a:bodyPr>
          <a:lstStyle/>
          <a:p>
            <a:pPr algn="l">
              <a:lnSpc>
                <a:spcPct val="105000"/>
              </a:lnSpc>
            </a:pPr>
            <a:r>
              <a:rPr sz="1600" b="1">
                <a:solidFill>
                  <a:srgbClr val="13A89E"/>
                </a:solidFill>
                <a:latin typeface="Calibri"/>
              </a:rPr>
              <a:t>System</a:t>
            </a:r>
          </a:p>
        </p:txBody>
      </p:sp>
      <p:pic>
        <p:nvPicPr>
          <p:cNvPr id="9" name="Picture 8" descr="system_arch.png"/>
          <p:cNvPicPr>
            <a:picLocks noChangeAspect="1"/>
          </p:cNvPicPr>
          <p:nvPr/>
        </p:nvPicPr>
        <p:blipFill>
          <a:blip r:embed="rId3"/>
          <a:stretch>
            <a:fillRect/>
          </a:stretch>
        </p:blipFill>
        <p:spPr>
          <a:xfrm>
            <a:off x="2670369" y="4251960"/>
            <a:ext cx="6820781" cy="2103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Results</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1078992"/>
            <a:ext cx="10972800" cy="411480"/>
          </a:xfrm>
          <a:prstGeom prst="rect">
            <a:avLst/>
          </a:prstGeom>
          <a:noFill/>
        </p:spPr>
        <p:txBody>
          <a:bodyPr wrap="square" anchor="t" lIns="36576" rIns="36576" tIns="18288" bIns="18288">
            <a:spAutoFit/>
          </a:bodyPr>
          <a:lstStyle/>
          <a:p>
            <a:pPr algn="l">
              <a:lnSpc>
                <a:spcPct val="105000"/>
              </a:lnSpc>
            </a:pPr>
            <a:r>
              <a:rPr sz="1500" b="0">
                <a:solidFill>
                  <a:srgbClr val="5B6B7C"/>
                </a:solidFill>
                <a:latin typeface="Calibri"/>
              </a:rPr>
              <a:t>Shipped pipeline · held-out benchmark · 23 images, 122 detections</a:t>
            </a:r>
          </a:p>
        </p:txBody>
      </p:sp>
      <p:sp>
        <p:nvSpPr>
          <p:cNvPr id="5" name="TextBox 4"/>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6" name="TextBox 5"/>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5</a:t>
            </a:r>
          </a:p>
        </p:txBody>
      </p:sp>
      <p:sp>
        <p:nvSpPr>
          <p:cNvPr id="7" name="Rounded Rectangle 6"/>
          <p:cNvSpPr/>
          <p:nvPr/>
        </p:nvSpPr>
        <p:spPr>
          <a:xfrm>
            <a:off x="548640" y="1691640"/>
            <a:ext cx="1737360" cy="1417320"/>
          </a:xfrm>
          <a:prstGeom prst="roundRect">
            <a:avLst>
              <a:gd name="adj" fmla="val 8000"/>
            </a:avLst>
          </a:prstGeom>
          <a:solidFill>
            <a:srgbClr val="F4F6F8"/>
          </a:solidFill>
          <a:ln>
            <a:noFill/>
          </a:ln>
          <a:effectLst/>
        </p:spPr>
        <p:txBody>
          <a:bodyPr rtlCol="0" anchor="ctr"/>
          <a:lstStyle/>
          <a:p>
            <a:pPr algn="ctr"/>
          </a:p>
        </p:txBody>
      </p:sp>
      <p:sp>
        <p:nvSpPr>
          <p:cNvPr id="8" name="TextBox 7"/>
          <p:cNvSpPr txBox="1"/>
          <p:nvPr/>
        </p:nvSpPr>
        <p:spPr>
          <a:xfrm>
            <a:off x="548640" y="1828800"/>
            <a:ext cx="1737360" cy="640080"/>
          </a:xfrm>
          <a:prstGeom prst="rect">
            <a:avLst/>
          </a:prstGeom>
          <a:noFill/>
        </p:spPr>
        <p:txBody>
          <a:bodyPr wrap="square" anchor="t" lIns="36576" rIns="36576" tIns="18288" bIns="18288">
            <a:spAutoFit/>
          </a:bodyPr>
          <a:lstStyle/>
          <a:p>
            <a:pPr algn="ctr">
              <a:lnSpc>
                <a:spcPct val="105000"/>
              </a:lnSpc>
            </a:pPr>
            <a:r>
              <a:rPr sz="2800" b="1">
                <a:solidFill>
                  <a:srgbClr val="13A89E"/>
                </a:solidFill>
                <a:latin typeface="Calibri"/>
              </a:rPr>
              <a:t>97.54%</a:t>
            </a:r>
          </a:p>
        </p:txBody>
      </p:sp>
      <p:sp>
        <p:nvSpPr>
          <p:cNvPr id="9" name="TextBox 8"/>
          <p:cNvSpPr txBox="1"/>
          <p:nvPr/>
        </p:nvSpPr>
        <p:spPr>
          <a:xfrm>
            <a:off x="640080" y="2487168"/>
            <a:ext cx="1554480" cy="548640"/>
          </a:xfrm>
          <a:prstGeom prst="rect">
            <a:avLst/>
          </a:prstGeom>
          <a:noFill/>
        </p:spPr>
        <p:txBody>
          <a:bodyPr wrap="square" anchor="t" lIns="36576" rIns="36576" tIns="18288" bIns="18288">
            <a:spAutoFit/>
          </a:bodyPr>
          <a:lstStyle/>
          <a:p>
            <a:pPr algn="ctr">
              <a:lnSpc>
                <a:spcPct val="105000"/>
              </a:lnSpc>
            </a:pPr>
            <a:r>
              <a:rPr sz="1250" b="0">
                <a:solidFill>
                  <a:srgbClr val="5B6B7C"/>
                </a:solidFill>
                <a:latin typeface="Calibri"/>
              </a:rPr>
              <a:t>finding label correct</a:t>
            </a:r>
          </a:p>
        </p:txBody>
      </p:sp>
      <p:sp>
        <p:nvSpPr>
          <p:cNvPr id="10" name="Rounded Rectangle 9"/>
          <p:cNvSpPr/>
          <p:nvPr/>
        </p:nvSpPr>
        <p:spPr>
          <a:xfrm>
            <a:off x="2423160" y="1691640"/>
            <a:ext cx="1737360" cy="1417320"/>
          </a:xfrm>
          <a:prstGeom prst="roundRect">
            <a:avLst>
              <a:gd name="adj" fmla="val 8000"/>
            </a:avLst>
          </a:prstGeom>
          <a:solidFill>
            <a:srgbClr val="F4F6F8"/>
          </a:solidFill>
          <a:ln>
            <a:noFill/>
          </a:ln>
          <a:effectLst/>
        </p:spPr>
        <p:txBody>
          <a:bodyPr rtlCol="0" anchor="ctr"/>
          <a:lstStyle/>
          <a:p>
            <a:pPr algn="ctr"/>
          </a:p>
        </p:txBody>
      </p:sp>
      <p:sp>
        <p:nvSpPr>
          <p:cNvPr id="11" name="TextBox 10"/>
          <p:cNvSpPr txBox="1"/>
          <p:nvPr/>
        </p:nvSpPr>
        <p:spPr>
          <a:xfrm>
            <a:off x="2423160" y="1828800"/>
            <a:ext cx="1737360" cy="640080"/>
          </a:xfrm>
          <a:prstGeom prst="rect">
            <a:avLst/>
          </a:prstGeom>
          <a:noFill/>
        </p:spPr>
        <p:txBody>
          <a:bodyPr wrap="square" anchor="t" lIns="36576" rIns="36576" tIns="18288" bIns="18288">
            <a:spAutoFit/>
          </a:bodyPr>
          <a:lstStyle/>
          <a:p>
            <a:pPr algn="ctr">
              <a:lnSpc>
                <a:spcPct val="105000"/>
              </a:lnSpc>
            </a:pPr>
            <a:r>
              <a:rPr sz="2800" b="1">
                <a:solidFill>
                  <a:srgbClr val="0B2545"/>
                </a:solidFill>
                <a:latin typeface="Calibri"/>
              </a:rPr>
              <a:t>76.23%</a:t>
            </a:r>
          </a:p>
        </p:txBody>
      </p:sp>
      <p:sp>
        <p:nvSpPr>
          <p:cNvPr id="12" name="TextBox 11"/>
          <p:cNvSpPr txBox="1"/>
          <p:nvPr/>
        </p:nvSpPr>
        <p:spPr>
          <a:xfrm>
            <a:off x="2514600" y="2487168"/>
            <a:ext cx="1554480" cy="548640"/>
          </a:xfrm>
          <a:prstGeom prst="rect">
            <a:avLst/>
          </a:prstGeom>
          <a:noFill/>
        </p:spPr>
        <p:txBody>
          <a:bodyPr wrap="square" anchor="t" lIns="36576" rIns="36576" tIns="18288" bIns="18288">
            <a:spAutoFit/>
          </a:bodyPr>
          <a:lstStyle/>
          <a:p>
            <a:pPr algn="ctr">
              <a:lnSpc>
                <a:spcPct val="105000"/>
              </a:lnSpc>
            </a:pPr>
            <a:r>
              <a:rPr sz="1250" b="0">
                <a:solidFill>
                  <a:srgbClr val="5B6B7C"/>
                </a:solidFill>
                <a:latin typeface="Calibri"/>
              </a:rPr>
              <a:t>tooth number correct</a:t>
            </a:r>
          </a:p>
        </p:txBody>
      </p:sp>
      <p:sp>
        <p:nvSpPr>
          <p:cNvPr id="13" name="Rounded Rectangle 12"/>
          <p:cNvSpPr/>
          <p:nvPr/>
        </p:nvSpPr>
        <p:spPr>
          <a:xfrm>
            <a:off x="4297679" y="1691640"/>
            <a:ext cx="1737360" cy="1417320"/>
          </a:xfrm>
          <a:prstGeom prst="roundRect">
            <a:avLst>
              <a:gd name="adj" fmla="val 8000"/>
            </a:avLst>
          </a:prstGeom>
          <a:solidFill>
            <a:srgbClr val="F4F6F8"/>
          </a:solidFill>
          <a:ln>
            <a:noFill/>
          </a:ln>
          <a:effectLst/>
        </p:spPr>
        <p:txBody>
          <a:bodyPr rtlCol="0" anchor="ctr"/>
          <a:lstStyle/>
          <a:p>
            <a:pPr algn="ctr"/>
          </a:p>
        </p:txBody>
      </p:sp>
      <p:sp>
        <p:nvSpPr>
          <p:cNvPr id="14" name="TextBox 13"/>
          <p:cNvSpPr txBox="1"/>
          <p:nvPr/>
        </p:nvSpPr>
        <p:spPr>
          <a:xfrm>
            <a:off x="4297679" y="1828800"/>
            <a:ext cx="1737360" cy="640080"/>
          </a:xfrm>
          <a:prstGeom prst="rect">
            <a:avLst/>
          </a:prstGeom>
          <a:noFill/>
        </p:spPr>
        <p:txBody>
          <a:bodyPr wrap="square" anchor="t" lIns="36576" rIns="36576" tIns="18288" bIns="18288">
            <a:spAutoFit/>
          </a:bodyPr>
          <a:lstStyle/>
          <a:p>
            <a:pPr algn="ctr">
              <a:lnSpc>
                <a:spcPct val="105000"/>
              </a:lnSpc>
            </a:pPr>
            <a:r>
              <a:rPr sz="2800" b="1">
                <a:solidFill>
                  <a:srgbClr val="0B2545"/>
                </a:solidFill>
                <a:latin typeface="Calibri"/>
              </a:rPr>
              <a:t>75.41%</a:t>
            </a:r>
          </a:p>
        </p:txBody>
      </p:sp>
      <p:sp>
        <p:nvSpPr>
          <p:cNvPr id="15" name="TextBox 14"/>
          <p:cNvSpPr txBox="1"/>
          <p:nvPr/>
        </p:nvSpPr>
        <p:spPr>
          <a:xfrm>
            <a:off x="4389119" y="2487168"/>
            <a:ext cx="1554480" cy="548640"/>
          </a:xfrm>
          <a:prstGeom prst="rect">
            <a:avLst/>
          </a:prstGeom>
          <a:noFill/>
        </p:spPr>
        <p:txBody>
          <a:bodyPr wrap="square" anchor="t" lIns="36576" rIns="36576" tIns="18288" bIns="18288">
            <a:spAutoFit/>
          </a:bodyPr>
          <a:lstStyle/>
          <a:p>
            <a:pPr algn="ctr">
              <a:lnSpc>
                <a:spcPct val="105000"/>
              </a:lnSpc>
            </a:pPr>
            <a:r>
              <a:rPr sz="1250" b="0">
                <a:solidFill>
                  <a:srgbClr val="5B6B7C"/>
                </a:solidFill>
                <a:latin typeface="Calibri"/>
              </a:rPr>
              <a:t>finding + tooth correct</a:t>
            </a:r>
          </a:p>
        </p:txBody>
      </p:sp>
      <p:pic>
        <p:nvPicPr>
          <p:cNvPr id="16" name="Picture 15" descr="heldout_chart.png"/>
          <p:cNvPicPr>
            <a:picLocks noChangeAspect="1"/>
          </p:cNvPicPr>
          <p:nvPr/>
        </p:nvPicPr>
        <p:blipFill>
          <a:blip r:embed="rId2"/>
          <a:stretch>
            <a:fillRect/>
          </a:stretch>
        </p:blipFill>
        <p:spPr>
          <a:xfrm>
            <a:off x="548640" y="3381468"/>
            <a:ext cx="5532120" cy="2792543"/>
          </a:xfrm>
          <a:prstGeom prst="rect">
            <a:avLst/>
          </a:prstGeom>
        </p:spPr>
      </p:pic>
      <p:pic>
        <p:nvPicPr>
          <p:cNvPr id="17" name="Picture 16" descr="detection_val_14_crop.png"/>
          <p:cNvPicPr>
            <a:picLocks noChangeAspect="1"/>
          </p:cNvPicPr>
          <p:nvPr/>
        </p:nvPicPr>
        <p:blipFill>
          <a:blip r:embed="rId3"/>
          <a:stretch>
            <a:fillRect/>
          </a:stretch>
        </p:blipFill>
        <p:spPr>
          <a:xfrm>
            <a:off x="6355080" y="1978878"/>
            <a:ext cx="5303520" cy="2717363"/>
          </a:xfrm>
          <a:prstGeom prst="rect">
            <a:avLst/>
          </a:prstGeom>
        </p:spPr>
      </p:pic>
      <p:sp>
        <p:nvSpPr>
          <p:cNvPr id="18" name="TextBox 17"/>
          <p:cNvSpPr txBox="1"/>
          <p:nvPr/>
        </p:nvSpPr>
        <p:spPr>
          <a:xfrm>
            <a:off x="6355080" y="5074920"/>
            <a:ext cx="5303520" cy="457200"/>
          </a:xfrm>
          <a:prstGeom prst="rect">
            <a:avLst/>
          </a:prstGeom>
          <a:noFill/>
        </p:spPr>
        <p:txBody>
          <a:bodyPr wrap="square" anchor="t" lIns="36576" rIns="36576" tIns="18288" bIns="18288">
            <a:spAutoFit/>
          </a:bodyPr>
          <a:lstStyle/>
          <a:p>
            <a:pPr algn="l">
              <a:lnSpc>
                <a:spcPct val="105000"/>
              </a:lnSpc>
            </a:pPr>
            <a:r>
              <a:rPr sz="1200" b="0">
                <a:solidFill>
                  <a:srgbClr val="5B6B7C"/>
                </a:solidFill>
                <a:latin typeface="Calibri"/>
              </a:rPr>
              <a:t>Public DENTEX image · detections ≥ 0.35 shown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In the clinic: safety by design</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6</a:t>
            </a:r>
          </a:p>
        </p:txBody>
      </p:sp>
      <p:pic>
        <p:nvPicPr>
          <p:cNvPr id="6" name="Picture 5" descr="screen_review_crop.png"/>
          <p:cNvPicPr>
            <a:picLocks noChangeAspect="1"/>
          </p:cNvPicPr>
          <p:nvPr/>
        </p:nvPicPr>
        <p:blipFill>
          <a:blip r:embed="rId2"/>
          <a:stretch>
            <a:fillRect/>
          </a:stretch>
        </p:blipFill>
        <p:spPr>
          <a:xfrm>
            <a:off x="548640" y="1371783"/>
            <a:ext cx="5623560" cy="2285632"/>
          </a:xfrm>
          <a:prstGeom prst="rect">
            <a:avLst/>
          </a:prstGeom>
        </p:spPr>
      </p:pic>
      <p:sp>
        <p:nvSpPr>
          <p:cNvPr id="7" name="TextBox 6"/>
          <p:cNvSpPr txBox="1"/>
          <p:nvPr/>
        </p:nvSpPr>
        <p:spPr>
          <a:xfrm>
            <a:off x="548640" y="3749039"/>
            <a:ext cx="5623560" cy="320040"/>
          </a:xfrm>
          <a:prstGeom prst="rect">
            <a:avLst/>
          </a:prstGeom>
          <a:noFill/>
        </p:spPr>
        <p:txBody>
          <a:bodyPr wrap="square" anchor="t" lIns="36576" rIns="36576" tIns="18288" bIns="18288">
            <a:spAutoFit/>
          </a:bodyPr>
          <a:lstStyle/>
          <a:p>
            <a:pPr algn="l">
              <a:lnSpc>
                <a:spcPct val="105000"/>
              </a:lnSpc>
            </a:pPr>
            <a:r>
              <a:rPr sz="1200" b="0">
                <a:solidFill>
                  <a:srgbClr val="5B6B7C"/>
                </a:solidFill>
                <a:latin typeface="Calibri"/>
              </a:rPr>
              <a:t>Findings stay pending until the dentist acts.</a:t>
            </a:r>
          </a:p>
        </p:txBody>
      </p:sp>
      <p:pic>
        <p:nvPicPr>
          <p:cNvPr id="8" name="Picture 7" descr="screen_contraindication.png"/>
          <p:cNvPicPr>
            <a:picLocks noChangeAspect="1"/>
          </p:cNvPicPr>
          <p:nvPr/>
        </p:nvPicPr>
        <p:blipFill>
          <a:blip r:embed="rId3"/>
          <a:stretch>
            <a:fillRect/>
          </a:stretch>
        </p:blipFill>
        <p:spPr>
          <a:xfrm>
            <a:off x="6401104" y="1325879"/>
            <a:ext cx="5257190" cy="3200400"/>
          </a:xfrm>
          <a:prstGeom prst="rect">
            <a:avLst/>
          </a:prstGeom>
          <a:ln w="28575">
            <a:solidFill>
              <a:srgbClr val="F5A623"/>
            </a:solidFill>
          </a:ln>
        </p:spPr>
      </p:pic>
      <p:sp>
        <p:nvSpPr>
          <p:cNvPr id="9" name="TextBox 8"/>
          <p:cNvSpPr txBox="1"/>
          <p:nvPr/>
        </p:nvSpPr>
        <p:spPr>
          <a:xfrm>
            <a:off x="6400800" y="4572000"/>
            <a:ext cx="5257800" cy="320040"/>
          </a:xfrm>
          <a:prstGeom prst="rect">
            <a:avLst/>
          </a:prstGeom>
          <a:noFill/>
        </p:spPr>
        <p:txBody>
          <a:bodyPr wrap="square" anchor="t" lIns="36576" rIns="36576" tIns="18288" bIns="18288">
            <a:spAutoFit/>
          </a:bodyPr>
          <a:lstStyle/>
          <a:p>
            <a:pPr algn="l">
              <a:lnSpc>
                <a:spcPct val="105000"/>
              </a:lnSpc>
            </a:pPr>
            <a:r>
              <a:rPr sz="1200" b="0">
                <a:solidFill>
                  <a:srgbClr val="5B6B7C"/>
                </a:solidFill>
                <a:latin typeface="Calibri"/>
              </a:rPr>
              <a:t>Penicillin allergy: warning must be acknowledged.</a:t>
            </a:r>
          </a:p>
        </p:txBody>
      </p:sp>
      <p:sp>
        <p:nvSpPr>
          <p:cNvPr id="10" name="Rounded Rectangle 9"/>
          <p:cNvSpPr/>
          <p:nvPr/>
        </p:nvSpPr>
        <p:spPr>
          <a:xfrm>
            <a:off x="548640" y="4206240"/>
            <a:ext cx="1783080" cy="914400"/>
          </a:xfrm>
          <a:prstGeom prst="roundRect">
            <a:avLst>
              <a:gd name="adj" fmla="val 8000"/>
            </a:avLst>
          </a:prstGeom>
          <a:solidFill>
            <a:srgbClr val="FFFFFF"/>
          </a:solidFill>
          <a:ln w="19050">
            <a:solidFill>
              <a:srgbClr val="13A89E"/>
            </a:solidFill>
          </a:ln>
          <a:effectLst/>
        </p:spPr>
        <p:txBody>
          <a:bodyPr rtlCol="0" anchor="ctr"/>
          <a:lstStyle/>
          <a:p>
            <a:pPr algn="ctr"/>
          </a:p>
        </p:txBody>
      </p:sp>
      <p:sp>
        <p:nvSpPr>
          <p:cNvPr id="11" name="TextBox 10"/>
          <p:cNvSpPr txBox="1"/>
          <p:nvPr/>
        </p:nvSpPr>
        <p:spPr>
          <a:xfrm>
            <a:off x="548640" y="4279392"/>
            <a:ext cx="1783080" cy="411480"/>
          </a:xfrm>
          <a:prstGeom prst="rect">
            <a:avLst/>
          </a:prstGeom>
          <a:noFill/>
        </p:spPr>
        <p:txBody>
          <a:bodyPr wrap="square" anchor="t" lIns="36576" rIns="36576" tIns="18288" bIns="18288">
            <a:spAutoFit/>
          </a:bodyPr>
          <a:lstStyle/>
          <a:p>
            <a:pPr algn="ctr">
              <a:lnSpc>
                <a:spcPct val="105000"/>
              </a:lnSpc>
            </a:pPr>
            <a:r>
              <a:rPr sz="1500" b="1">
                <a:solidFill>
                  <a:srgbClr val="0B2545"/>
                </a:solidFill>
                <a:latin typeface="Calibri"/>
              </a:rPr>
              <a:t>Caries</a:t>
            </a:r>
          </a:p>
        </p:txBody>
      </p:sp>
      <p:sp>
        <p:nvSpPr>
          <p:cNvPr id="12" name="TextBox 11"/>
          <p:cNvSpPr txBox="1"/>
          <p:nvPr/>
        </p:nvSpPr>
        <p:spPr>
          <a:xfrm>
            <a:off x="548640" y="4663440"/>
            <a:ext cx="1783080" cy="365760"/>
          </a:xfrm>
          <a:prstGeom prst="rect">
            <a:avLst/>
          </a:prstGeom>
          <a:noFill/>
        </p:spPr>
        <p:txBody>
          <a:bodyPr wrap="square" anchor="t" lIns="36576" rIns="36576" tIns="18288" bIns="18288">
            <a:spAutoFit/>
          </a:bodyPr>
          <a:lstStyle/>
          <a:p>
            <a:pPr algn="ctr">
              <a:lnSpc>
                <a:spcPct val="105000"/>
              </a:lnSpc>
            </a:pPr>
            <a:r>
              <a:rPr sz="1200" b="0">
                <a:solidFill>
                  <a:srgbClr val="5B6B7C"/>
                </a:solidFill>
                <a:latin typeface="Calibri"/>
              </a:rPr>
              <a:t>No drug</a:t>
            </a:r>
          </a:p>
        </p:txBody>
      </p:sp>
      <p:sp>
        <p:nvSpPr>
          <p:cNvPr id="13" name="Rounded Rectangle 12"/>
          <p:cNvSpPr/>
          <p:nvPr/>
        </p:nvSpPr>
        <p:spPr>
          <a:xfrm>
            <a:off x="2468880" y="4206240"/>
            <a:ext cx="1783080" cy="914400"/>
          </a:xfrm>
          <a:prstGeom prst="roundRect">
            <a:avLst>
              <a:gd name="adj" fmla="val 8000"/>
            </a:avLst>
          </a:prstGeom>
          <a:solidFill>
            <a:srgbClr val="FFFFFF"/>
          </a:solidFill>
          <a:ln w="19050">
            <a:solidFill>
              <a:srgbClr val="13A89E"/>
            </a:solidFill>
          </a:ln>
          <a:effectLst/>
        </p:spPr>
        <p:txBody>
          <a:bodyPr rtlCol="0" anchor="ctr"/>
          <a:lstStyle/>
          <a:p>
            <a:pPr algn="ctr"/>
          </a:p>
        </p:txBody>
      </p:sp>
      <p:sp>
        <p:nvSpPr>
          <p:cNvPr id="14" name="TextBox 13"/>
          <p:cNvSpPr txBox="1"/>
          <p:nvPr/>
        </p:nvSpPr>
        <p:spPr>
          <a:xfrm>
            <a:off x="2468880" y="4279392"/>
            <a:ext cx="1783080" cy="411480"/>
          </a:xfrm>
          <a:prstGeom prst="rect">
            <a:avLst/>
          </a:prstGeom>
          <a:noFill/>
        </p:spPr>
        <p:txBody>
          <a:bodyPr wrap="square" anchor="t" lIns="36576" rIns="36576" tIns="18288" bIns="18288">
            <a:spAutoFit/>
          </a:bodyPr>
          <a:lstStyle/>
          <a:p>
            <a:pPr algn="ctr">
              <a:lnSpc>
                <a:spcPct val="105000"/>
              </a:lnSpc>
            </a:pPr>
            <a:r>
              <a:rPr sz="1500" b="1">
                <a:solidFill>
                  <a:srgbClr val="0B2545"/>
                </a:solidFill>
                <a:latin typeface="Calibri"/>
              </a:rPr>
              <a:t>Infection</a:t>
            </a:r>
          </a:p>
        </p:txBody>
      </p:sp>
      <p:sp>
        <p:nvSpPr>
          <p:cNvPr id="15" name="TextBox 14"/>
          <p:cNvSpPr txBox="1"/>
          <p:nvPr/>
        </p:nvSpPr>
        <p:spPr>
          <a:xfrm>
            <a:off x="2468880" y="4663440"/>
            <a:ext cx="1783080" cy="365760"/>
          </a:xfrm>
          <a:prstGeom prst="rect">
            <a:avLst/>
          </a:prstGeom>
          <a:noFill/>
        </p:spPr>
        <p:txBody>
          <a:bodyPr wrap="square" anchor="t" lIns="36576" rIns="36576" tIns="18288" bIns="18288">
            <a:spAutoFit/>
          </a:bodyPr>
          <a:lstStyle/>
          <a:p>
            <a:pPr algn="ctr">
              <a:lnSpc>
                <a:spcPct val="105000"/>
              </a:lnSpc>
            </a:pPr>
            <a:r>
              <a:rPr sz="1200" b="0">
                <a:solidFill>
                  <a:srgbClr val="5B6B7C"/>
                </a:solidFill>
                <a:latin typeface="Calibri"/>
              </a:rPr>
              <a:t>Drug, no conflict</a:t>
            </a:r>
          </a:p>
        </p:txBody>
      </p:sp>
      <p:sp>
        <p:nvSpPr>
          <p:cNvPr id="16" name="Rounded Rectangle 15"/>
          <p:cNvSpPr/>
          <p:nvPr/>
        </p:nvSpPr>
        <p:spPr>
          <a:xfrm>
            <a:off x="4389120" y="4206240"/>
            <a:ext cx="1783080" cy="914400"/>
          </a:xfrm>
          <a:prstGeom prst="roundRect">
            <a:avLst>
              <a:gd name="adj" fmla="val 8000"/>
            </a:avLst>
          </a:prstGeom>
          <a:solidFill>
            <a:srgbClr val="FFFFFF"/>
          </a:solidFill>
          <a:ln w="19050">
            <a:solidFill>
              <a:srgbClr val="F5A623"/>
            </a:solidFill>
          </a:ln>
          <a:effectLst/>
        </p:spPr>
        <p:txBody>
          <a:bodyPr rtlCol="0" anchor="ctr"/>
          <a:lstStyle/>
          <a:p>
            <a:pPr algn="ctr"/>
          </a:p>
        </p:txBody>
      </p:sp>
      <p:sp>
        <p:nvSpPr>
          <p:cNvPr id="17" name="TextBox 16"/>
          <p:cNvSpPr txBox="1"/>
          <p:nvPr/>
        </p:nvSpPr>
        <p:spPr>
          <a:xfrm>
            <a:off x="4389120" y="4279392"/>
            <a:ext cx="1783080" cy="411480"/>
          </a:xfrm>
          <a:prstGeom prst="rect">
            <a:avLst/>
          </a:prstGeom>
          <a:noFill/>
        </p:spPr>
        <p:txBody>
          <a:bodyPr wrap="square" anchor="t" lIns="36576" rIns="36576" tIns="18288" bIns="18288">
            <a:spAutoFit/>
          </a:bodyPr>
          <a:lstStyle/>
          <a:p>
            <a:pPr algn="ctr">
              <a:lnSpc>
                <a:spcPct val="105000"/>
              </a:lnSpc>
            </a:pPr>
            <a:r>
              <a:rPr sz="1500" b="1">
                <a:solidFill>
                  <a:srgbClr val="0B2545"/>
                </a:solidFill>
                <a:latin typeface="Calibri"/>
              </a:rPr>
              <a:t>Allergy</a:t>
            </a:r>
          </a:p>
        </p:txBody>
      </p:sp>
      <p:sp>
        <p:nvSpPr>
          <p:cNvPr id="18" name="TextBox 17"/>
          <p:cNvSpPr txBox="1"/>
          <p:nvPr/>
        </p:nvSpPr>
        <p:spPr>
          <a:xfrm>
            <a:off x="4389120" y="4663440"/>
            <a:ext cx="1783080" cy="365760"/>
          </a:xfrm>
          <a:prstGeom prst="rect">
            <a:avLst/>
          </a:prstGeom>
          <a:noFill/>
        </p:spPr>
        <p:txBody>
          <a:bodyPr wrap="square" anchor="t" lIns="36576" rIns="36576" tIns="18288" bIns="18288">
            <a:spAutoFit/>
          </a:bodyPr>
          <a:lstStyle/>
          <a:p>
            <a:pPr algn="ctr">
              <a:lnSpc>
                <a:spcPct val="105000"/>
              </a:lnSpc>
            </a:pPr>
            <a:r>
              <a:rPr sz="1200" b="0">
                <a:solidFill>
                  <a:srgbClr val="5B6B7C"/>
                </a:solidFill>
                <a:latin typeface="Calibri"/>
              </a:rPr>
              <a:t>Drug with conflict</a:t>
            </a:r>
          </a:p>
        </p:txBody>
      </p:sp>
      <p:sp>
        <p:nvSpPr>
          <p:cNvPr id="19" name="TextBox 18"/>
          <p:cNvSpPr txBox="1"/>
          <p:nvPr/>
        </p:nvSpPr>
        <p:spPr>
          <a:xfrm>
            <a:off x="548640" y="5440680"/>
            <a:ext cx="11064240" cy="640080"/>
          </a:xfrm>
          <a:prstGeom prst="rect">
            <a:avLst/>
          </a:prstGeom>
          <a:noFill/>
        </p:spPr>
        <p:txBody>
          <a:bodyPr wrap="square" anchor="t" lIns="36576" rIns="36576" tIns="18288" bIns="18288">
            <a:spAutoFit/>
          </a:bodyPr>
          <a:lstStyle/>
          <a:p>
            <a:pPr algn="ctr">
              <a:lnSpc>
                <a:spcPct val="105000"/>
              </a:lnSpc>
            </a:pPr>
            <a:r>
              <a:rPr sz="3000" b="1">
                <a:solidFill>
                  <a:srgbClr val="0B2545"/>
                </a:solidFill>
                <a:latin typeface="Calibri"/>
              </a:rPr>
              <a:t>AI proposes. Dentist decides.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Impact &amp; next steps</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7</a:t>
            </a:r>
          </a:p>
        </p:txBody>
      </p:sp>
      <p:sp>
        <p:nvSpPr>
          <p:cNvPr id="6" name="Rounded Rectangle 5"/>
          <p:cNvSpPr/>
          <p:nvPr/>
        </p:nvSpPr>
        <p:spPr>
          <a:xfrm>
            <a:off x="548640" y="1371600"/>
            <a:ext cx="5029200" cy="3017520"/>
          </a:xfrm>
          <a:prstGeom prst="roundRect">
            <a:avLst>
              <a:gd name="adj" fmla="val 8000"/>
            </a:avLst>
          </a:prstGeom>
          <a:solidFill>
            <a:srgbClr val="F4F6F8"/>
          </a:solidFill>
          <a:ln>
            <a:noFill/>
          </a:ln>
          <a:effectLst/>
        </p:spPr>
        <p:txBody>
          <a:bodyPr rtlCol="0" anchor="ctr"/>
          <a:lstStyle/>
          <a:p>
            <a:pPr algn="ctr"/>
          </a:p>
        </p:txBody>
      </p:sp>
      <p:sp>
        <p:nvSpPr>
          <p:cNvPr id="7" name="TextBox 6"/>
          <p:cNvSpPr txBox="1"/>
          <p:nvPr/>
        </p:nvSpPr>
        <p:spPr>
          <a:xfrm>
            <a:off x="868680" y="1600200"/>
            <a:ext cx="4572000" cy="457200"/>
          </a:xfrm>
          <a:prstGeom prst="rect">
            <a:avLst/>
          </a:prstGeom>
          <a:noFill/>
        </p:spPr>
        <p:txBody>
          <a:bodyPr wrap="square" anchor="t" lIns="36576" rIns="36576" tIns="18288" bIns="18288">
            <a:spAutoFit/>
          </a:bodyPr>
          <a:lstStyle/>
          <a:p>
            <a:pPr algn="l">
              <a:lnSpc>
                <a:spcPct val="105000"/>
              </a:lnSpc>
            </a:pPr>
            <a:r>
              <a:rPr sz="2200" b="1">
                <a:solidFill>
                  <a:srgbClr val="13A89E"/>
                </a:solidFill>
                <a:latin typeface="Calibri"/>
              </a:rPr>
              <a:t>Done</a:t>
            </a:r>
          </a:p>
        </p:txBody>
      </p:sp>
      <p:sp>
        <p:nvSpPr>
          <p:cNvPr id="8" name="TextBox 7"/>
          <p:cNvSpPr txBox="1"/>
          <p:nvPr/>
        </p:nvSpPr>
        <p:spPr>
          <a:xfrm>
            <a:off x="868680" y="2148840"/>
            <a:ext cx="4572000" cy="3291840"/>
          </a:xfrm>
          <a:prstGeom prst="rect">
            <a:avLst/>
          </a:prstGeom>
          <a:noFill/>
        </p:spPr>
        <p:txBody>
          <a:bodyPr wrap="square" anchor="t" lIns="36576" rIns="36576" tIns="18288" bIns="18288">
            <a:spAutoFit/>
          </a:bodyPr>
          <a:lstStyle/>
          <a:p>
            <a:pPr algn="l">
              <a:lnSpc>
                <a:spcPct val="145000"/>
              </a:lnSpc>
            </a:pPr>
            <a:r>
              <a:rPr sz="1800" b="0">
                <a:solidFill>
                  <a:srgbClr val="1E2A38"/>
                </a:solidFill>
                <a:latin typeface="Calibri"/>
              </a:rPr>
              <a:t>Full loop, end to end</a:t>
            </a:r>
          </a:p>
          <a:p>
            <a:pPr algn="l">
              <a:lnSpc>
                <a:spcPct val="145000"/>
              </a:lnSpc>
            </a:pPr>
            <a:r>
              <a:rPr sz="1800" b="0">
                <a:solidFill>
                  <a:srgbClr val="1E2A38"/>
                </a:solidFill>
                <a:latin typeface="Calibri"/>
              </a:rPr>
              <a:t>Login + per-dentist access</a:t>
            </a:r>
          </a:p>
          <a:p>
            <a:pPr algn="l">
              <a:lnSpc>
                <a:spcPct val="145000"/>
              </a:lnSpc>
            </a:pPr>
            <a:r>
              <a:rPr sz="1800" b="0">
                <a:solidFill>
                  <a:srgbClr val="1E2A38"/>
                </a:solidFill>
                <a:latin typeface="Calibri"/>
              </a:rPr>
              <a:t>196 automated tests in CI</a:t>
            </a:r>
          </a:p>
        </p:txBody>
      </p:sp>
      <p:sp>
        <p:nvSpPr>
          <p:cNvPr id="9" name="Rounded Rectangle 8"/>
          <p:cNvSpPr/>
          <p:nvPr/>
        </p:nvSpPr>
        <p:spPr>
          <a:xfrm>
            <a:off x="5806440" y="1371600"/>
            <a:ext cx="4069080" cy="3017520"/>
          </a:xfrm>
          <a:prstGeom prst="roundRect">
            <a:avLst>
              <a:gd name="adj" fmla="val 8000"/>
            </a:avLst>
          </a:prstGeom>
          <a:solidFill>
            <a:srgbClr val="F4F6F8"/>
          </a:solidFill>
          <a:ln>
            <a:noFill/>
          </a:ln>
          <a:effectLst/>
        </p:spPr>
        <p:txBody>
          <a:bodyPr rtlCol="0" anchor="ctr"/>
          <a:lstStyle/>
          <a:p>
            <a:pPr algn="ctr"/>
          </a:p>
        </p:txBody>
      </p:sp>
      <p:sp>
        <p:nvSpPr>
          <p:cNvPr id="10" name="TextBox 9"/>
          <p:cNvSpPr txBox="1"/>
          <p:nvPr/>
        </p:nvSpPr>
        <p:spPr>
          <a:xfrm>
            <a:off x="6126480" y="1600200"/>
            <a:ext cx="3657600" cy="457200"/>
          </a:xfrm>
          <a:prstGeom prst="rect">
            <a:avLst/>
          </a:prstGeom>
          <a:noFill/>
        </p:spPr>
        <p:txBody>
          <a:bodyPr wrap="square" anchor="t" lIns="36576" rIns="36576" tIns="18288" bIns="18288">
            <a:spAutoFit/>
          </a:bodyPr>
          <a:lstStyle/>
          <a:p>
            <a:pPr algn="l">
              <a:lnSpc>
                <a:spcPct val="105000"/>
              </a:lnSpc>
            </a:pPr>
            <a:r>
              <a:rPr sz="2200" b="1">
                <a:solidFill>
                  <a:srgbClr val="0B2545"/>
                </a:solidFill>
                <a:latin typeface="Calibri"/>
              </a:rPr>
              <a:t>Next</a:t>
            </a:r>
          </a:p>
        </p:txBody>
      </p:sp>
      <p:sp>
        <p:nvSpPr>
          <p:cNvPr id="11" name="TextBox 10"/>
          <p:cNvSpPr txBox="1"/>
          <p:nvPr/>
        </p:nvSpPr>
        <p:spPr>
          <a:xfrm>
            <a:off x="6126480" y="2148840"/>
            <a:ext cx="3657600" cy="2743200"/>
          </a:xfrm>
          <a:prstGeom prst="rect">
            <a:avLst/>
          </a:prstGeom>
          <a:noFill/>
        </p:spPr>
        <p:txBody>
          <a:bodyPr wrap="square" anchor="t" lIns="36576" rIns="36576" tIns="18288" bIns="18288">
            <a:spAutoFit/>
          </a:bodyPr>
          <a:lstStyle/>
          <a:p>
            <a:pPr algn="l">
              <a:lnSpc>
                <a:spcPct val="145000"/>
              </a:lnSpc>
            </a:pPr>
            <a:r>
              <a:rPr sz="1800" b="0">
                <a:solidFill>
                  <a:srgbClr val="1E2A38"/>
                </a:solidFill>
                <a:latin typeface="Calibri"/>
              </a:rPr>
              <a:t>Clinic pilot</a:t>
            </a:r>
          </a:p>
          <a:p>
            <a:pPr algn="l">
              <a:lnSpc>
                <a:spcPct val="145000"/>
              </a:lnSpc>
            </a:pPr>
            <a:r>
              <a:rPr sz="1800" b="0">
                <a:solidFill>
                  <a:srgbClr val="1E2A38"/>
                </a:solidFill>
                <a:latin typeface="Calibri"/>
              </a:rPr>
              <a:t>Clinician rule review</a:t>
            </a:r>
          </a:p>
          <a:p>
            <a:pPr algn="l">
              <a:lnSpc>
                <a:spcPct val="145000"/>
              </a:lnSpc>
            </a:pPr>
            <a:r>
              <a:rPr sz="1800" b="0">
                <a:solidFill>
                  <a:srgbClr val="1E2A38"/>
                </a:solidFill>
                <a:latin typeface="Calibri"/>
              </a:rPr>
              <a:t>Retraining from corrections</a:t>
            </a:r>
          </a:p>
          <a:p>
            <a:pPr algn="l">
              <a:lnSpc>
                <a:spcPct val="145000"/>
              </a:lnSpc>
            </a:pPr>
            <a:r>
              <a:rPr sz="1800" b="0">
                <a:solidFill>
                  <a:srgbClr val="1E2A38"/>
                </a:solidFill>
                <a:latin typeface="Calibri"/>
              </a:rPr>
              <a:t>PDPL 151/2020 compliance</a:t>
            </a:r>
          </a:p>
        </p:txBody>
      </p:sp>
      <p:pic>
        <p:nvPicPr>
          <p:cNvPr id="12" name="Picture 11" descr="repo_qr.png"/>
          <p:cNvPicPr>
            <a:picLocks noChangeAspect="1"/>
          </p:cNvPicPr>
          <p:nvPr/>
        </p:nvPicPr>
        <p:blipFill>
          <a:blip r:embed="rId2"/>
          <a:stretch>
            <a:fillRect/>
          </a:stretch>
        </p:blipFill>
        <p:spPr>
          <a:xfrm>
            <a:off x="10058400" y="1600200"/>
            <a:ext cx="1600200" cy="1600200"/>
          </a:xfrm>
          <a:prstGeom prst="rect">
            <a:avLst/>
          </a:prstGeom>
        </p:spPr>
      </p:pic>
      <p:sp>
        <p:nvSpPr>
          <p:cNvPr id="13" name="TextBox 12"/>
          <p:cNvSpPr txBox="1"/>
          <p:nvPr/>
        </p:nvSpPr>
        <p:spPr>
          <a:xfrm>
            <a:off x="9921240" y="3246120"/>
            <a:ext cx="1874519" cy="548640"/>
          </a:xfrm>
          <a:prstGeom prst="rect">
            <a:avLst/>
          </a:prstGeom>
          <a:noFill/>
        </p:spPr>
        <p:txBody>
          <a:bodyPr wrap="square" anchor="t" lIns="36576" rIns="36576" tIns="18288" bIns="18288">
            <a:spAutoFit/>
          </a:bodyPr>
          <a:lstStyle/>
          <a:p>
            <a:pPr algn="ctr">
              <a:lnSpc>
                <a:spcPct val="105000"/>
              </a:lnSpc>
            </a:pPr>
            <a:r>
              <a:rPr sz="1200" b="0">
                <a:solidFill>
                  <a:srgbClr val="5B6B7C"/>
                </a:solidFill>
                <a:latin typeface="Calibri"/>
              </a:rPr>
              <a:t>Code &amp; docs on GitHub</a:t>
            </a:r>
          </a:p>
        </p:txBody>
      </p:sp>
      <p:sp>
        <p:nvSpPr>
          <p:cNvPr id="14" name="TextBox 13"/>
          <p:cNvSpPr txBox="1"/>
          <p:nvPr/>
        </p:nvSpPr>
        <p:spPr>
          <a:xfrm>
            <a:off x="548640" y="4892040"/>
            <a:ext cx="11064240" cy="548640"/>
          </a:xfrm>
          <a:prstGeom prst="rect">
            <a:avLst/>
          </a:prstGeom>
          <a:noFill/>
        </p:spPr>
        <p:txBody>
          <a:bodyPr wrap="square" anchor="t" lIns="36576" rIns="36576" tIns="18288" bIns="18288">
            <a:spAutoFit/>
          </a:bodyPr>
          <a:lstStyle/>
          <a:p>
            <a:pPr algn="ctr">
              <a:lnSpc>
                <a:spcPct val="105000"/>
              </a:lnSpc>
            </a:pPr>
            <a:r>
              <a:rPr sz="2600" b="1">
                <a:solidFill>
                  <a:srgbClr val="0B2545"/>
                </a:solidFill>
                <a:latin typeface="Calibri"/>
              </a:rPr>
              <a:t>Thank you — questions welcome.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txBody>
          <a:bodyPr rtlCol="0" anchor="ctr"/>
          <a:lstStyle/>
          <a:p>
            <a:pPr algn="ctr"/>
          </a:p>
        </p:txBody>
      </p:sp>
      <p:sp>
        <p:nvSpPr>
          <p:cNvPr id="3" name="TextBox 2"/>
          <p:cNvSpPr txBox="1"/>
          <p:nvPr/>
        </p:nvSpPr>
        <p:spPr>
          <a:xfrm>
            <a:off x="731520" y="2651760"/>
            <a:ext cx="10515600" cy="914400"/>
          </a:xfrm>
          <a:prstGeom prst="rect">
            <a:avLst/>
          </a:prstGeom>
          <a:noFill/>
        </p:spPr>
        <p:txBody>
          <a:bodyPr wrap="square" anchor="t" lIns="36576" rIns="36576" tIns="18288" bIns="18288">
            <a:spAutoFit/>
          </a:bodyPr>
          <a:lstStyle/>
          <a:p>
            <a:pPr algn="l">
              <a:lnSpc>
                <a:spcPct val="105000"/>
              </a:lnSpc>
            </a:pPr>
            <a:r>
              <a:rPr sz="4400" b="1">
                <a:solidFill>
                  <a:srgbClr val="FFFFFF"/>
                </a:solidFill>
                <a:latin typeface="Calibri"/>
              </a:rPr>
              <a:t>Backup — Q&amp;A</a:t>
            </a:r>
          </a:p>
        </p:txBody>
      </p:sp>
      <p:sp>
        <p:nvSpPr>
          <p:cNvPr id="4" name="TextBox 3"/>
          <p:cNvSpPr txBox="1"/>
          <p:nvPr/>
        </p:nvSpPr>
        <p:spPr>
          <a:xfrm>
            <a:off x="731520" y="3566160"/>
            <a:ext cx="10515600" cy="548640"/>
          </a:xfrm>
          <a:prstGeom prst="rect">
            <a:avLst/>
          </a:prstGeom>
          <a:noFill/>
        </p:spPr>
        <p:txBody>
          <a:bodyPr wrap="square" anchor="t" lIns="36576" rIns="36576" tIns="18288" bIns="18288">
            <a:spAutoFit/>
          </a:bodyPr>
          <a:lstStyle/>
          <a:p>
            <a:pPr algn="l">
              <a:lnSpc>
                <a:spcPct val="105000"/>
              </a:lnSpc>
            </a:pPr>
            <a:r>
              <a:rPr sz="1800" b="0">
                <a:solidFill>
                  <a:srgbClr val="8FE3DB"/>
                </a:solidFill>
                <a:latin typeface="Calibri"/>
              </a:rPr>
              <a:t>Competition · Data · Limitations · Privacy · Testing · Clinical rules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Backup · Competitive landscape</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9</a:t>
            </a:r>
          </a:p>
        </p:txBody>
      </p:sp>
      <p:graphicFrame>
        <p:nvGraphicFramePr>
          <p:cNvPr id="6" name="Table 5"/>
          <p:cNvGraphicFramePr>
            <a:graphicFrameLocks noGrp="1"/>
          </p:cNvGraphicFramePr>
          <p:nvPr/>
        </p:nvGraphicFramePr>
        <p:xfrm>
          <a:off x="548640" y="1371600"/>
          <a:ext cx="11064240" cy="3200400"/>
        </p:xfrm>
        <a:graphic>
          <a:graphicData uri="http://schemas.openxmlformats.org/drawingml/2006/table">
            <a:tbl>
              <a:tblPr firstRow="1" bandRow="1">
                <a:tableStyleId>{5C22544A-7EE6-4342-B048-85BDC9FD1C3A}</a:tableStyleId>
              </a:tblPr>
              <a:tblGrid>
                <a:gridCol w="1554480"/>
                <a:gridCol w="2011680"/>
                <a:gridCol w="1920240"/>
                <a:gridCol w="2011680"/>
                <a:gridCol w="1645920"/>
                <a:gridCol w="1920240"/>
              </a:tblGrid>
              <a:tr h="457200">
                <a:tc>
                  <a:txBody>
                    <a:bodyPr wrap="square"/>
                    <a:lstStyle/>
                    <a:p>
                      <a:r>
                        <a:rPr sz="1300" b="1">
                          <a:solidFill>
                            <a:srgbClr val="FFFFFF"/>
                          </a:solidFill>
                          <a:latin typeface="Calibri"/>
                        </a:rPr>
                        <a:t>Product</a:t>
                      </a:r>
                    </a:p>
                  </a:txBody>
                  <a:tcPr marL="73152" marR="73152" marT="27432" marB="27432">
                    <a:solidFill>
                      <a:srgbClr val="0B2545"/>
                    </a:solidFill>
                  </a:tcPr>
                </a:tc>
                <a:tc>
                  <a:txBody>
                    <a:bodyPr wrap="square"/>
                    <a:lstStyle/>
                    <a:p>
                      <a:r>
                        <a:rPr sz="1300" b="1">
                          <a:solidFill>
                            <a:srgbClr val="FFFFFF"/>
                          </a:solidFill>
                          <a:latin typeface="Calibri"/>
                        </a:rPr>
                        <a:t>Detects findings on X-rays</a:t>
                      </a:r>
                    </a:p>
                  </a:txBody>
                  <a:tcPr marL="73152" marR="73152" marT="27432" marB="27432">
                    <a:solidFill>
                      <a:srgbClr val="0B2545"/>
                    </a:solidFill>
                  </a:tcPr>
                </a:tc>
                <a:tc>
                  <a:txBody>
                    <a:bodyPr wrap="square"/>
                    <a:lstStyle/>
                    <a:p>
                      <a:r>
                        <a:rPr sz="1300" b="1">
                          <a:solidFill>
                            <a:srgbClr val="FFFFFF"/>
                          </a:solidFill>
                          <a:latin typeface="Calibri"/>
                        </a:rPr>
                        <a:t>Dentist confirms each finding</a:t>
                      </a:r>
                    </a:p>
                  </a:txBody>
                  <a:tcPr marL="73152" marR="73152" marT="27432" marB="27432">
                    <a:solidFill>
                      <a:srgbClr val="0B2545"/>
                    </a:solidFill>
                  </a:tcPr>
                </a:tc>
                <a:tc>
                  <a:txBody>
                    <a:bodyPr wrap="square"/>
                    <a:lstStyle/>
                    <a:p>
                      <a:r>
                        <a:rPr sz="1300" b="1">
                          <a:solidFill>
                            <a:srgbClr val="FFFFFF"/>
                          </a:solidFill>
                          <a:latin typeface="Calibri"/>
                        </a:rPr>
                        <a:t>Treatment + drug-safety check</a:t>
                      </a:r>
                    </a:p>
                  </a:txBody>
                  <a:tcPr marL="73152" marR="73152" marT="27432" marB="27432">
                    <a:solidFill>
                      <a:srgbClr val="0B2545"/>
                    </a:solidFill>
                  </a:tcPr>
                </a:tc>
                <a:tc>
                  <a:txBody>
                    <a:bodyPr wrap="square"/>
                    <a:lstStyle/>
                    <a:p>
                      <a:r>
                        <a:rPr sz="1300" b="1">
                          <a:solidFill>
                            <a:srgbClr val="FFFFFF"/>
                          </a:solidFill>
                          <a:latin typeface="Calibri"/>
                        </a:rPr>
                        <a:t>Longitudinal record</a:t>
                      </a:r>
                    </a:p>
                  </a:txBody>
                  <a:tcPr marL="73152" marR="73152" marT="27432" marB="27432">
                    <a:solidFill>
                      <a:srgbClr val="0B2545"/>
                    </a:solidFill>
                  </a:tcPr>
                </a:tc>
                <a:tc>
                  <a:txBody>
                    <a:bodyPr wrap="square"/>
                    <a:lstStyle/>
                    <a:p>
                      <a:r>
                        <a:rPr sz="1300" b="1">
                          <a:solidFill>
                            <a:srgbClr val="FFFFFF"/>
                          </a:solidFill>
                          <a:latin typeface="Calibri"/>
                        </a:rPr>
                        <a:t>Corrections logged</a:t>
                      </a:r>
                    </a:p>
                  </a:txBody>
                  <a:tcPr marL="73152" marR="73152" marT="27432" marB="27432">
                    <a:solidFill>
                      <a:srgbClr val="0B2545"/>
                    </a:solidFill>
                  </a:tcPr>
                </a:tc>
              </a:tr>
              <a:tr h="457200">
                <a:tc>
                  <a:txBody>
                    <a:bodyPr wrap="square"/>
                    <a:lstStyle/>
                    <a:p>
                      <a:r>
                        <a:rPr sz="1300" b="1">
                          <a:solidFill>
                            <a:srgbClr val="1E2A38"/>
                          </a:solidFill>
                          <a:latin typeface="Calibri"/>
                        </a:rPr>
                        <a:t>Diagnocat</a:t>
                      </a:r>
                    </a:p>
                  </a:txBody>
                  <a:tcPr marL="73152" marR="73152" marT="27432" marB="27432">
                    <a:solidFill>
                      <a:srgbClr val="F4F6F8"/>
                    </a:solidFill>
                  </a:tcPr>
                </a:tc>
                <a:tc>
                  <a:txBody>
                    <a:bodyPr wrap="square"/>
                    <a:lstStyle/>
                    <a:p>
                      <a:r>
                        <a:rPr sz="1300" b="0">
                          <a:solidFill>
                            <a:srgbClr val="1E2A38"/>
                          </a:solidFill>
                          <a:latin typeface="Calibri"/>
                        </a:rPr>
                        <a:t>Yes</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r>
              <a:tr h="457200">
                <a:tc>
                  <a:txBody>
                    <a:bodyPr wrap="square"/>
                    <a:lstStyle/>
                    <a:p>
                      <a:r>
                        <a:rPr sz="1300" b="1">
                          <a:solidFill>
                            <a:srgbClr val="1E2A38"/>
                          </a:solidFill>
                          <a:latin typeface="Calibri"/>
                        </a:rPr>
                        <a:t>Pearl</a:t>
                      </a:r>
                    </a:p>
                  </a:txBody>
                  <a:tcPr marL="73152" marR="73152" marT="27432" marB="27432">
                    <a:solidFill>
                      <a:srgbClr val="FFFFFF"/>
                    </a:solidFill>
                  </a:tcPr>
                </a:tc>
                <a:tc>
                  <a:txBody>
                    <a:bodyPr wrap="square"/>
                    <a:lstStyle/>
                    <a:p>
                      <a:r>
                        <a:rPr sz="1300" b="0">
                          <a:solidFill>
                            <a:srgbClr val="1E2A38"/>
                          </a:solidFill>
                          <a:latin typeface="Calibri"/>
                        </a:rPr>
                        <a:t>Yes</a:t>
                      </a:r>
                    </a:p>
                  </a:txBody>
                  <a:tcPr marL="73152" marR="73152" marT="27432" marB="27432">
                    <a:solidFill>
                      <a:srgbClr val="FFFFFF"/>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FFFFF"/>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FFFFF"/>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FFFFF"/>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FFFFF"/>
                    </a:solidFill>
                  </a:tcPr>
                </a:tc>
              </a:tr>
              <a:tr h="457200">
                <a:tc>
                  <a:txBody>
                    <a:bodyPr wrap="square"/>
                    <a:lstStyle/>
                    <a:p>
                      <a:r>
                        <a:rPr sz="1300" b="1">
                          <a:solidFill>
                            <a:srgbClr val="1E2A38"/>
                          </a:solidFill>
                          <a:latin typeface="Calibri"/>
                        </a:rPr>
                        <a:t>Overjet</a:t>
                      </a:r>
                    </a:p>
                  </a:txBody>
                  <a:tcPr marL="73152" marR="73152" marT="27432" marB="27432">
                    <a:solidFill>
                      <a:srgbClr val="F4F6F8"/>
                    </a:solidFill>
                  </a:tcPr>
                </a:tc>
                <a:tc>
                  <a:txBody>
                    <a:bodyPr wrap="square"/>
                    <a:lstStyle/>
                    <a:p>
                      <a:r>
                        <a:rPr sz="1300" b="0">
                          <a:solidFill>
                            <a:srgbClr val="1E2A38"/>
                          </a:solidFill>
                          <a:latin typeface="Calibri"/>
                        </a:rPr>
                        <a:t>Yes</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r>
              <a:tr h="457200">
                <a:tc>
                  <a:txBody>
                    <a:bodyPr wrap="square"/>
                    <a:lstStyle/>
                    <a:p>
                      <a:r>
                        <a:rPr sz="1300" b="1">
                          <a:solidFill>
                            <a:srgbClr val="1E2A38"/>
                          </a:solidFill>
                          <a:latin typeface="Calibri"/>
                        </a:rPr>
                        <a:t>dentalXrai</a:t>
                      </a:r>
                    </a:p>
                  </a:txBody>
                  <a:tcPr marL="73152" marR="73152" marT="27432" marB="27432">
                    <a:solidFill>
                      <a:srgbClr val="FFFFFF"/>
                    </a:solidFill>
                  </a:tcPr>
                </a:tc>
                <a:tc>
                  <a:txBody>
                    <a:bodyPr wrap="square"/>
                    <a:lstStyle/>
                    <a:p>
                      <a:r>
                        <a:rPr sz="1300" b="0">
                          <a:solidFill>
                            <a:srgbClr val="1E2A38"/>
                          </a:solidFill>
                          <a:latin typeface="Calibri"/>
                        </a:rPr>
                        <a:t>Yes</a:t>
                      </a:r>
                    </a:p>
                  </a:txBody>
                  <a:tcPr marL="73152" marR="73152" marT="27432" marB="27432">
                    <a:solidFill>
                      <a:srgbClr val="FFFFFF"/>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FFFFF"/>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FFFFF"/>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FFFFF"/>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FFFFF"/>
                    </a:solidFill>
                  </a:tcPr>
                </a:tc>
              </a:tr>
              <a:tr h="457200">
                <a:tc>
                  <a:txBody>
                    <a:bodyPr wrap="square"/>
                    <a:lstStyle/>
                    <a:p>
                      <a:r>
                        <a:rPr sz="1300" b="1">
                          <a:solidFill>
                            <a:srgbClr val="1E2A38"/>
                          </a:solidFill>
                          <a:latin typeface="Calibri"/>
                        </a:rPr>
                        <a:t>DentalRx</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c>
                  <a:txBody>
                    <a:bodyPr wrap="square"/>
                    <a:lstStyle/>
                    <a:p>
                      <a:r>
                        <a:rPr sz="1300" b="0">
                          <a:solidFill>
                            <a:srgbClr val="1E2A38"/>
                          </a:solidFill>
                          <a:latin typeface="Calibri"/>
                          <a:highlight>
                            <a:srgbClr val="FFFF00"/>
                          </a:highlight>
                        </a:rPr>
                        <a:t>verify</a:t>
                      </a:r>
                    </a:p>
                  </a:txBody>
                  <a:tcPr marL="73152" marR="73152" marT="27432" marB="27432">
                    <a:solidFill>
                      <a:srgbClr val="F4F6F8"/>
                    </a:solidFill>
                  </a:tcPr>
                </a:tc>
              </a:tr>
              <a:tr h="457200">
                <a:tc>
                  <a:txBody>
                    <a:bodyPr wrap="square"/>
                    <a:lstStyle/>
                    <a:p>
                      <a:r>
                        <a:rPr sz="1300" b="1">
                          <a:solidFill>
                            <a:srgbClr val="1E2A38"/>
                          </a:solidFill>
                          <a:latin typeface="Calibri"/>
                        </a:rPr>
                        <a:t>DentalAI</a:t>
                      </a:r>
                    </a:p>
                  </a:txBody>
                  <a:tcPr marL="73152" marR="73152" marT="27432" marB="27432">
                    <a:solidFill>
                      <a:srgbClr val="FFFFFF"/>
                    </a:solidFill>
                  </a:tcPr>
                </a:tc>
                <a:tc>
                  <a:txBody>
                    <a:bodyPr wrap="square"/>
                    <a:lstStyle/>
                    <a:p>
                      <a:r>
                        <a:rPr sz="1300" b="0">
                          <a:solidFill>
                            <a:srgbClr val="1E2A38"/>
                          </a:solidFill>
                          <a:latin typeface="Calibri"/>
                        </a:rPr>
                        <a:t>Yes (4 findings + tooth)</a:t>
                      </a:r>
                    </a:p>
                  </a:txBody>
                  <a:tcPr marL="73152" marR="73152" marT="27432" marB="27432">
                    <a:solidFill>
                      <a:srgbClr val="FFFFFF"/>
                    </a:solidFill>
                  </a:tcPr>
                </a:tc>
                <a:tc>
                  <a:txBody>
                    <a:bodyPr wrap="square"/>
                    <a:lstStyle/>
                    <a:p>
                      <a:r>
                        <a:rPr sz="1300" b="0">
                          <a:solidFill>
                            <a:srgbClr val="1E2A38"/>
                          </a:solidFill>
                          <a:latin typeface="Calibri"/>
                        </a:rPr>
                        <a:t>Yes, required</a:t>
                      </a:r>
                    </a:p>
                  </a:txBody>
                  <a:tcPr marL="73152" marR="73152" marT="27432" marB="27432">
                    <a:solidFill>
                      <a:srgbClr val="FFFFFF"/>
                    </a:solidFill>
                  </a:tcPr>
                </a:tc>
                <a:tc>
                  <a:txBody>
                    <a:bodyPr wrap="square"/>
                    <a:lstStyle/>
                    <a:p>
                      <a:r>
                        <a:rPr sz="1300" b="0">
                          <a:solidFill>
                            <a:srgbClr val="1E2A38"/>
                          </a:solidFill>
                          <a:latin typeface="Calibri"/>
                        </a:rPr>
                        <a:t>Yes, 26 rules, gated</a:t>
                      </a:r>
                    </a:p>
                  </a:txBody>
                  <a:tcPr marL="73152" marR="73152" marT="27432" marB="27432">
                    <a:solidFill>
                      <a:srgbClr val="FFFFFF"/>
                    </a:solidFill>
                  </a:tcPr>
                </a:tc>
                <a:tc>
                  <a:txBody>
                    <a:bodyPr wrap="square"/>
                    <a:lstStyle/>
                    <a:p>
                      <a:r>
                        <a:rPr sz="1300" b="0">
                          <a:solidFill>
                            <a:srgbClr val="1E2A38"/>
                          </a:solidFill>
                          <a:latin typeface="Calibri"/>
                        </a:rPr>
                        <a:t>Yes</a:t>
                      </a:r>
                    </a:p>
                  </a:txBody>
                  <a:tcPr marL="73152" marR="73152" marT="27432" marB="27432">
                    <a:solidFill>
                      <a:srgbClr val="FFFFFF"/>
                    </a:solidFill>
                  </a:tcPr>
                </a:tc>
                <a:tc>
                  <a:txBody>
                    <a:bodyPr wrap="square"/>
                    <a:lstStyle/>
                    <a:p>
                      <a:r>
                        <a:rPr sz="1300" b="0">
                          <a:solidFill>
                            <a:srgbClr val="1E2A38"/>
                          </a:solidFill>
                          <a:latin typeface="Calibri"/>
                        </a:rPr>
                        <a:t>Yes (retraining planned)</a:t>
                      </a:r>
                    </a:p>
                  </a:txBody>
                  <a:tcPr marL="73152" marR="73152" marT="27432" marB="27432">
                    <a:solidFill>
                      <a:srgbClr val="FFFFFF"/>
                    </a:solidFill>
                  </a:tcPr>
                </a:tc>
              </a:tr>
            </a:tbl>
          </a:graphicData>
        </a:graphic>
      </p:graphicFrame>
      <p:sp>
        <p:nvSpPr>
          <p:cNvPr id="7" name="TextBox 6"/>
          <p:cNvSpPr txBox="1"/>
          <p:nvPr/>
        </p:nvSpPr>
        <p:spPr>
          <a:xfrm>
            <a:off x="548640" y="5074920"/>
            <a:ext cx="11064240" cy="1097280"/>
          </a:xfrm>
          <a:prstGeom prst="rect">
            <a:avLst/>
          </a:prstGeom>
          <a:noFill/>
        </p:spPr>
        <p:txBody>
          <a:bodyPr wrap="square" anchor="t" lIns="36576" rIns="36576" tIns="18288" bIns="18288">
            <a:spAutoFit/>
          </a:bodyPr>
          <a:lstStyle/>
          <a:p>
            <a:pPr algn="l">
              <a:lnSpc>
                <a:spcPct val="120000"/>
              </a:lnSpc>
            </a:pPr>
            <a:r>
              <a:rPr sz="1300" b="0">
                <a:solidFill>
                  <a:srgbClr val="1E2A38"/>
                </a:solidFill>
                <a:latin typeface="Calibri"/>
                <a:highlight>
                  <a:srgbClr val="FFFF00"/>
                </a:highlight>
              </a:rPr>
              <a:t>Competitor cells are UNVERIFIED: check each vendor's current public product pages before presenting.</a:t>
            </a:r>
          </a:p>
          <a:p>
            <a:pPr algn="l">
              <a:lnSpc>
                <a:spcPct val="120000"/>
              </a:lnSpc>
            </a:pPr>
            <a:r>
              <a:rPr sz="1300" b="0">
                <a:solidFill>
                  <a:srgbClr val="5B6B7C"/>
                </a:solidFill>
                <a:latin typeface="Calibri"/>
              </a:rPr>
              <a:t>Our claim is narrow: DentalAI links detection to the dentist's decision, treatment safety and the patient record in one loop.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Backup · Data &amp; training</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10</a:t>
            </a:r>
          </a:p>
        </p:txBody>
      </p:sp>
      <p:sp>
        <p:nvSpPr>
          <p:cNvPr id="6" name="TextBox 5"/>
          <p:cNvSpPr txBox="1"/>
          <p:nvPr/>
        </p:nvSpPr>
        <p:spPr>
          <a:xfrm>
            <a:off x="548640" y="1325880"/>
            <a:ext cx="5577840" cy="4937760"/>
          </a:xfrm>
          <a:prstGeom prst="rect">
            <a:avLst/>
          </a:prstGeom>
          <a:noFill/>
        </p:spPr>
        <p:txBody>
          <a:bodyPr wrap="square" anchor="t" lIns="36576" rIns="36576" tIns="18288" bIns="18288">
            <a:spAutoFit/>
          </a:bodyPr>
          <a:lstStyle/>
          <a:p>
            <a:pPr algn="l">
              <a:lnSpc>
                <a:spcPct val="120000"/>
              </a:lnSpc>
            </a:pPr>
            <a:r>
              <a:rPr sz="1500" b="1">
                <a:solidFill>
                  <a:srgbClr val="1E2A38"/>
                </a:solidFill>
                <a:latin typeface="Calibri"/>
              </a:rPr>
              <a:t>Data:</a:t>
            </a:r>
            <a:r>
              <a:rPr sz="1500" b="0">
                <a:solidFill>
                  <a:srgbClr val="1E2A38"/>
                </a:solidFill>
                <a:latin typeface="Calibri"/>
              </a:rPr>
              <a:t> DENTEX 2023 panoramic X-rays (public, CC BY-NC-SA). Tufts + Loki model set aside; Roboflow never used.</a:t>
            </a:r>
          </a:p>
          <a:p>
            <a:pPr algn="l">
              <a:lnSpc>
                <a:spcPct val="120000"/>
              </a:lnSpc>
            </a:pPr>
            <a:r>
              <a:rPr sz="1500" b="1">
                <a:solidFill>
                  <a:srgbClr val="1E2A38"/>
                </a:solidFill>
                <a:latin typeface="Calibri"/>
              </a:rPr>
              <a:t>Classes:</a:t>
            </a:r>
            <a:r>
              <a:rPr sz="1500" b="0">
                <a:solidFill>
                  <a:srgbClr val="1E2A38"/>
                </a:solidFill>
                <a:latin typeface="Calibri"/>
              </a:rPr>
              <a:t> caries, deep caries, periapical lesion, impacted; FDI tooth numbers.</a:t>
            </a:r>
          </a:p>
          <a:p>
            <a:pPr algn="l">
              <a:lnSpc>
                <a:spcPct val="120000"/>
              </a:lnSpc>
            </a:pPr>
            <a:r>
              <a:rPr sz="1500" b="1">
                <a:solidFill>
                  <a:srgbClr val="1E2A38"/>
                </a:solidFill>
                <a:latin typeface="Calibri"/>
              </a:rPr>
              <a:t>Training (Kaggle, 2× T4):</a:t>
            </a:r>
            <a:r>
              <a:rPr sz="1500" b="0">
                <a:solidFill>
                  <a:srgbClr val="1E2A38"/>
                </a:solidFill>
                <a:latin typeface="Calibri"/>
              </a:rPr>
              <a:t> YOLOv8n coordinator, 50 epochs, 640 px; YOLOv8s detector (MLv2), 50 epochs, 640 px; Ultralytics default augmentation.</a:t>
            </a:r>
          </a:p>
          <a:p>
            <a:pPr algn="l">
              <a:lnSpc>
                <a:spcPct val="120000"/>
              </a:lnSpc>
            </a:pPr>
            <a:r>
              <a:rPr sz="1500" b="1">
                <a:solidFill>
                  <a:srgbClr val="1E2A38"/>
                </a:solidFill>
                <a:latin typeface="Calibri"/>
              </a:rPr>
              <a:t>Tooth association:</a:t>
            </a:r>
            <a:r>
              <a:rPr sz="1500" b="0">
                <a:solidFill>
                  <a:srgbClr val="1E2A38"/>
                </a:solidFill>
                <a:latin typeface="Calibri"/>
              </a:rPr>
              <a:t> Random Forest, 300 trees, 15 spatial features, balanced classes.</a:t>
            </a:r>
          </a:p>
          <a:p>
            <a:pPr algn="l">
              <a:lnSpc>
                <a:spcPct val="120000"/>
              </a:lnSpc>
            </a:pPr>
            <a:r>
              <a:rPr sz="1500" b="1">
                <a:solidFill>
                  <a:srgbClr val="1E2A38"/>
                </a:solidFill>
                <a:latin typeface="Calibri"/>
              </a:rPr>
              <a:t>Held-out test:</a:t>
            </a:r>
            <a:r>
              <a:rPr sz="1500" b="0">
                <a:solidFill>
                  <a:srgbClr val="1E2A38"/>
                </a:solidFill>
                <a:latin typeface="Calibri"/>
              </a:rPr>
              <a:t> 23 images, 122 detections (results slide).</a:t>
            </a:r>
          </a:p>
          <a:p>
            <a:pPr algn="l">
              <a:lnSpc>
                <a:spcPct val="120000"/>
              </a:lnSpc>
            </a:pPr>
            <a:r>
              <a:rPr sz="1500" b="0">
                <a:solidFill>
                  <a:srgbClr val="1E2A38"/>
                </a:solidFill>
                <a:latin typeface="Calibri"/>
                <a:highlight>
                  <a:srgbClr val="FFFF00"/>
                </a:highlight>
              </a:rPr>
              <a:t>Shipped detector checkpoint differs from the MLv2 run: its training split is UNVERIFIED.</a:t>
            </a:r>
          </a:p>
        </p:txBody>
      </p:sp>
      <p:pic>
        <p:nvPicPr>
          <p:cNvPr id="7" name="Picture 6" descr="training_fit_chart.png"/>
          <p:cNvPicPr>
            <a:picLocks noChangeAspect="1"/>
          </p:cNvPicPr>
          <p:nvPr/>
        </p:nvPicPr>
        <p:blipFill>
          <a:blip r:embed="rId2"/>
          <a:stretch>
            <a:fillRect/>
          </a:stretch>
        </p:blipFill>
        <p:spPr>
          <a:xfrm>
            <a:off x="6355080" y="1424565"/>
            <a:ext cx="5303520" cy="2820148"/>
          </a:xfrm>
          <a:prstGeom prst="rect">
            <a:avLst/>
          </a:prstGeom>
        </p:spPr>
      </p:pic>
      <p:sp>
        <p:nvSpPr>
          <p:cNvPr id="8" name="TextBox 7"/>
          <p:cNvSpPr txBox="1"/>
          <p:nvPr/>
        </p:nvSpPr>
        <p:spPr>
          <a:xfrm>
            <a:off x="6355080" y="4389120"/>
            <a:ext cx="5303520" cy="1463040"/>
          </a:xfrm>
          <a:prstGeom prst="rect">
            <a:avLst/>
          </a:prstGeom>
          <a:noFill/>
        </p:spPr>
        <p:txBody>
          <a:bodyPr wrap="square" anchor="t" lIns="36576" rIns="36576" tIns="18288" bIns="18288">
            <a:spAutoFit/>
          </a:bodyPr>
          <a:lstStyle/>
          <a:p>
            <a:pPr algn="l">
              <a:lnSpc>
                <a:spcPct val="115000"/>
              </a:lnSpc>
            </a:pPr>
            <a:r>
              <a:rPr sz="1300" b="0">
                <a:solidFill>
                  <a:srgbClr val="5B6B7C"/>
                </a:solidFill>
                <a:latin typeface="Calibri"/>
              </a:rPr>
              <a:t>MLv2 validated on its own training folder (val = train), so these numbers show fit, not generalization. We report only the held-out benchmark as performance.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Backup · Limitations &amp; honest risks</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11</a:t>
            </a:r>
          </a:p>
        </p:txBody>
      </p:sp>
      <p:sp>
        <p:nvSpPr>
          <p:cNvPr id="6" name="TextBox 5"/>
          <p:cNvSpPr txBox="1"/>
          <p:nvPr/>
        </p:nvSpPr>
        <p:spPr>
          <a:xfrm>
            <a:off x="548640" y="1371600"/>
            <a:ext cx="11064240" cy="4846320"/>
          </a:xfrm>
          <a:prstGeom prst="rect">
            <a:avLst/>
          </a:prstGeom>
          <a:noFill/>
        </p:spPr>
        <p:txBody>
          <a:bodyPr wrap="square" anchor="t" lIns="36576" rIns="36576" tIns="18288" bIns="18288">
            <a:spAutoFit/>
          </a:bodyPr>
          <a:lstStyle/>
          <a:p>
            <a:pPr algn="l">
              <a:lnSpc>
                <a:spcPct val="130000"/>
              </a:lnSpc>
            </a:pPr>
            <a:r>
              <a:rPr sz="1700" b="1">
                <a:solidFill>
                  <a:srgbClr val="1E2A38"/>
                </a:solidFill>
                <a:latin typeface="Calibri"/>
              </a:rPr>
              <a:t>Small test set:</a:t>
            </a:r>
            <a:r>
              <a:rPr sz="1700" b="0">
                <a:solidFill>
                  <a:srgbClr val="1E2A38"/>
                </a:solidFill>
                <a:latin typeface="Calibri"/>
              </a:rPr>
              <a:t> 23 held-out images, 122 detections; no held-out mAP or recall for the shipped detector yet.</a:t>
            </a:r>
          </a:p>
          <a:p>
            <a:pPr algn="l">
              <a:lnSpc>
                <a:spcPct val="130000"/>
              </a:lnSpc>
            </a:pPr>
            <a:r>
              <a:rPr sz="1700" b="1">
                <a:solidFill>
                  <a:srgbClr val="1E2A38"/>
                </a:solidFill>
                <a:latin typeface="Calibri"/>
              </a:rPr>
              <a:t>Tooth numbering:</a:t>
            </a:r>
            <a:r>
              <a:rPr sz="1700" b="0">
                <a:solidFill>
                  <a:srgbClr val="1E2A38"/>
                </a:solidFill>
                <a:latin typeface="Calibri"/>
              </a:rPr>
              <a:t> weakest output (76.23%). Older enumerators shifted numbers when a tooth was missing; the Random Forest was added to fix this.</a:t>
            </a:r>
          </a:p>
          <a:p>
            <a:pPr algn="l">
              <a:lnSpc>
                <a:spcPct val="130000"/>
              </a:lnSpc>
            </a:pPr>
            <a:r>
              <a:rPr sz="1700" b="1">
                <a:solidFill>
                  <a:srgbClr val="1E2A38"/>
                </a:solidFill>
                <a:latin typeface="Calibri"/>
              </a:rPr>
              <a:t>Uncalibrated confidence:</a:t>
            </a:r>
            <a:r>
              <a:rPr sz="1700" b="0">
                <a:solidFill>
                  <a:srgbClr val="1E2A38"/>
                </a:solidFill>
                <a:latin typeface="Calibri"/>
              </a:rPr>
              <a:t> scores are model probabilities, not clinical probabilities.</a:t>
            </a:r>
          </a:p>
          <a:p>
            <a:pPr algn="l">
              <a:lnSpc>
                <a:spcPct val="130000"/>
              </a:lnSpc>
            </a:pPr>
            <a:r>
              <a:rPr sz="1700" b="1">
                <a:solidFill>
                  <a:srgbClr val="1E2A38"/>
                </a:solidFill>
                <a:latin typeface="Calibri"/>
              </a:rPr>
              <a:t>Domain gap:</a:t>
            </a:r>
            <a:r>
              <a:rPr sz="1700" b="0">
                <a:solidFill>
                  <a:srgbClr val="1E2A38"/>
                </a:solidFill>
                <a:latin typeface="Calibri"/>
              </a:rPr>
              <a:t> trained and tested on public DENTEX images; real clinic X-rays may differ.</a:t>
            </a:r>
          </a:p>
          <a:p>
            <a:pPr algn="l">
              <a:lnSpc>
                <a:spcPct val="130000"/>
              </a:lnSpc>
            </a:pPr>
            <a:r>
              <a:rPr sz="1700" b="1">
                <a:solidFill>
                  <a:srgbClr val="1E2A38"/>
                </a:solidFill>
                <a:latin typeface="Calibri"/>
              </a:rPr>
              <a:t>Feedback loop:</a:t>
            </a:r>
            <a:r>
              <a:rPr sz="1700" b="0">
                <a:solidFill>
                  <a:srgbClr val="1E2A38"/>
                </a:solidFill>
                <a:latin typeface="Calibri"/>
              </a:rPr>
              <a:t> corrections are logged; no retraining has been run yet.</a:t>
            </a:r>
          </a:p>
          <a:p>
            <a:pPr algn="l">
              <a:lnSpc>
                <a:spcPct val="130000"/>
              </a:lnSpc>
            </a:pPr>
            <a:r>
              <a:rPr sz="1700" b="1">
                <a:solidFill>
                  <a:srgbClr val="1E2A38"/>
                </a:solidFill>
                <a:latin typeface="Calibri"/>
              </a:rPr>
              <a:t>Clinical rules:</a:t>
            </a:r>
            <a:r>
              <a:rPr sz="1700" b="0">
                <a:solidFill>
                  <a:srgbClr val="1E2A38"/>
                </a:solidFill>
                <a:latin typeface="Calibri"/>
              </a:rPr>
              <a:t> source-backed (ADA, AHA, AAPD) but not yet clinician-validated; no clinic pilot yet.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Backup · Privacy &amp; compliance</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12</a:t>
            </a:r>
          </a:p>
        </p:txBody>
      </p:sp>
      <p:sp>
        <p:nvSpPr>
          <p:cNvPr id="6" name="TextBox 5"/>
          <p:cNvSpPr txBox="1"/>
          <p:nvPr/>
        </p:nvSpPr>
        <p:spPr>
          <a:xfrm>
            <a:off x="548640" y="1371600"/>
            <a:ext cx="11064240" cy="4846320"/>
          </a:xfrm>
          <a:prstGeom prst="rect">
            <a:avLst/>
          </a:prstGeom>
          <a:noFill/>
        </p:spPr>
        <p:txBody>
          <a:bodyPr wrap="square" anchor="t" lIns="36576" rIns="36576" tIns="18288" bIns="18288">
            <a:spAutoFit/>
          </a:bodyPr>
          <a:lstStyle/>
          <a:p>
            <a:pPr algn="l">
              <a:lnSpc>
                <a:spcPct val="130000"/>
              </a:lnSpc>
            </a:pPr>
            <a:r>
              <a:rPr sz="1700" b="1">
                <a:solidFill>
                  <a:srgbClr val="1E2A38"/>
                </a:solidFill>
                <a:latin typeface="Calibri"/>
              </a:rPr>
              <a:t>Synthetic data only:</a:t>
            </a:r>
            <a:r>
              <a:rPr sz="1700" b="0">
                <a:solidFill>
                  <a:srgbClr val="1E2A38"/>
                </a:solidFill>
                <a:latin typeface="Calibri"/>
              </a:rPr>
              <a:t> demo patients are synthetic QA profiles; X-rays are public DENTEX images.</a:t>
            </a:r>
          </a:p>
          <a:p>
            <a:pPr algn="l">
              <a:lnSpc>
                <a:spcPct val="130000"/>
              </a:lnSpc>
            </a:pPr>
            <a:r>
              <a:rPr sz="1700" b="1">
                <a:solidFill>
                  <a:srgbClr val="1E2A38"/>
                </a:solidFill>
                <a:latin typeface="Calibri"/>
              </a:rPr>
              <a:t>Access:</a:t>
            </a:r>
            <a:r>
              <a:rPr sz="1700" b="0">
                <a:solidFill>
                  <a:srgbClr val="1E2A38"/>
                </a:solidFill>
                <a:latin typeface="Calibri"/>
              </a:rPr>
              <a:t> every API call needs a signed-in dentist; each dentist sees only their own patients (others answer 404).</a:t>
            </a:r>
          </a:p>
          <a:p>
            <a:pPr algn="l">
              <a:lnSpc>
                <a:spcPct val="130000"/>
              </a:lnSpc>
            </a:pPr>
            <a:r>
              <a:rPr sz="1700" b="1">
                <a:solidFill>
                  <a:srgbClr val="1E2A38"/>
                </a:solidFill>
                <a:latin typeface="Calibri"/>
              </a:rPr>
              <a:t>Database:</a:t>
            </a:r>
            <a:r>
              <a:rPr sz="1700" b="0">
                <a:solidFill>
                  <a:srgbClr val="1E2A38"/>
                </a:solidFill>
                <a:latin typeface="Calibri"/>
              </a:rPr>
              <a:t> Supabase row-level security with no client access; only the backend reads and writes.</a:t>
            </a:r>
          </a:p>
          <a:p>
            <a:pPr algn="l">
              <a:lnSpc>
                <a:spcPct val="130000"/>
              </a:lnSpc>
            </a:pPr>
            <a:r>
              <a:rPr sz="1700" b="1">
                <a:solidFill>
                  <a:srgbClr val="1E2A38"/>
                </a:solidFill>
                <a:latin typeface="Calibri"/>
              </a:rPr>
              <a:t>Images:</a:t>
            </a:r>
            <a:r>
              <a:rPr sz="1700" b="0">
                <a:solidFill>
                  <a:srgbClr val="1E2A38"/>
                </a:solidFill>
                <a:latin typeface="Calibri"/>
              </a:rPr>
              <a:t> private storage bucket; time-limited signed links (1 hour).</a:t>
            </a:r>
          </a:p>
          <a:p>
            <a:pPr algn="l">
              <a:lnSpc>
                <a:spcPct val="130000"/>
              </a:lnSpc>
            </a:pPr>
            <a:r>
              <a:rPr sz="1700" b="1">
                <a:solidFill>
                  <a:srgbClr val="1E2A38"/>
                </a:solidFill>
                <a:latin typeface="Calibri"/>
              </a:rPr>
              <a:t>Audit:</a:t>
            </a:r>
            <a:r>
              <a:rPr sz="1700" b="0">
                <a:solidFill>
                  <a:srgbClr val="1E2A38"/>
                </a:solidFill>
                <a:latin typeface="Calibri"/>
              </a:rPr>
              <a:t> every correction and override is recorded with the dentist's id.</a:t>
            </a:r>
          </a:p>
          <a:p>
            <a:pPr algn="l">
              <a:lnSpc>
                <a:spcPct val="130000"/>
              </a:lnSpc>
            </a:pPr>
            <a:r>
              <a:rPr sz="1700" b="1">
                <a:solidFill>
                  <a:srgbClr val="1E2A38"/>
                </a:solidFill>
                <a:latin typeface="Calibri"/>
              </a:rPr>
              <a:t>Egypt PDPL 151/2020:</a:t>
            </a:r>
            <a:r>
              <a:rPr sz="1700" b="0">
                <a:solidFill>
                  <a:srgbClr val="1E2A38"/>
                </a:solidFill>
                <a:latin typeface="Calibri"/>
              </a:rPr>
              <a:t> compliance review planned before any clinic pilot (consent, data residency, retention).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Backup · Testing &amp; QA evidence</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13</a:t>
            </a:r>
          </a:p>
        </p:txBody>
      </p:sp>
      <p:sp>
        <p:nvSpPr>
          <p:cNvPr id="6" name="Rounded Rectangle 5"/>
          <p:cNvSpPr/>
          <p:nvPr/>
        </p:nvSpPr>
        <p:spPr>
          <a:xfrm>
            <a:off x="548640" y="1417320"/>
            <a:ext cx="2606040" cy="1371600"/>
          </a:xfrm>
          <a:prstGeom prst="roundRect">
            <a:avLst>
              <a:gd name="adj" fmla="val 8000"/>
            </a:avLst>
          </a:prstGeom>
          <a:solidFill>
            <a:srgbClr val="F4F6F8"/>
          </a:solidFill>
          <a:ln>
            <a:noFill/>
          </a:ln>
          <a:effectLst/>
        </p:spPr>
        <p:txBody>
          <a:bodyPr rtlCol="0" anchor="ctr"/>
          <a:lstStyle/>
          <a:p>
            <a:pPr algn="ctr"/>
          </a:p>
        </p:txBody>
      </p:sp>
      <p:sp>
        <p:nvSpPr>
          <p:cNvPr id="7" name="TextBox 6"/>
          <p:cNvSpPr txBox="1"/>
          <p:nvPr/>
        </p:nvSpPr>
        <p:spPr>
          <a:xfrm>
            <a:off x="548640" y="1508760"/>
            <a:ext cx="2606040" cy="685800"/>
          </a:xfrm>
          <a:prstGeom prst="rect">
            <a:avLst/>
          </a:prstGeom>
          <a:noFill/>
        </p:spPr>
        <p:txBody>
          <a:bodyPr wrap="square" anchor="t" lIns="36576" rIns="36576" tIns="18288" bIns="18288">
            <a:spAutoFit/>
          </a:bodyPr>
          <a:lstStyle/>
          <a:p>
            <a:pPr algn="ctr">
              <a:lnSpc>
                <a:spcPct val="105000"/>
              </a:lnSpc>
            </a:pPr>
            <a:r>
              <a:rPr sz="3400" b="1">
                <a:solidFill>
                  <a:srgbClr val="13A89E"/>
                </a:solidFill>
                <a:latin typeface="Calibri"/>
              </a:rPr>
              <a:t>171</a:t>
            </a:r>
          </a:p>
        </p:txBody>
      </p:sp>
      <p:sp>
        <p:nvSpPr>
          <p:cNvPr id="8" name="TextBox 7"/>
          <p:cNvSpPr txBox="1"/>
          <p:nvPr/>
        </p:nvSpPr>
        <p:spPr>
          <a:xfrm>
            <a:off x="548640" y="2240280"/>
            <a:ext cx="2606040" cy="411480"/>
          </a:xfrm>
          <a:prstGeom prst="rect">
            <a:avLst/>
          </a:prstGeom>
          <a:noFill/>
        </p:spPr>
        <p:txBody>
          <a:bodyPr wrap="square" anchor="t" lIns="36576" rIns="36576" tIns="18288" bIns="18288">
            <a:spAutoFit/>
          </a:bodyPr>
          <a:lstStyle/>
          <a:p>
            <a:pPr algn="ctr">
              <a:lnSpc>
                <a:spcPct val="105000"/>
              </a:lnSpc>
            </a:pPr>
            <a:r>
              <a:rPr sz="1500" b="0">
                <a:solidFill>
                  <a:srgbClr val="5B6B7C"/>
                </a:solidFill>
                <a:latin typeface="Calibri"/>
              </a:rPr>
              <a:t>backend tests</a:t>
            </a:r>
          </a:p>
        </p:txBody>
      </p:sp>
      <p:sp>
        <p:nvSpPr>
          <p:cNvPr id="9" name="Rounded Rectangle 8"/>
          <p:cNvSpPr/>
          <p:nvPr/>
        </p:nvSpPr>
        <p:spPr>
          <a:xfrm>
            <a:off x="3337560" y="1417320"/>
            <a:ext cx="2606040" cy="1371600"/>
          </a:xfrm>
          <a:prstGeom prst="roundRect">
            <a:avLst>
              <a:gd name="adj" fmla="val 8000"/>
            </a:avLst>
          </a:prstGeom>
          <a:solidFill>
            <a:srgbClr val="F4F6F8"/>
          </a:solidFill>
          <a:ln>
            <a:noFill/>
          </a:ln>
          <a:effectLst/>
        </p:spPr>
        <p:txBody>
          <a:bodyPr rtlCol="0" anchor="ctr"/>
          <a:lstStyle/>
          <a:p>
            <a:pPr algn="ctr"/>
          </a:p>
        </p:txBody>
      </p:sp>
      <p:sp>
        <p:nvSpPr>
          <p:cNvPr id="10" name="TextBox 9"/>
          <p:cNvSpPr txBox="1"/>
          <p:nvPr/>
        </p:nvSpPr>
        <p:spPr>
          <a:xfrm>
            <a:off x="3337560" y="1508760"/>
            <a:ext cx="2606040" cy="685800"/>
          </a:xfrm>
          <a:prstGeom prst="rect">
            <a:avLst/>
          </a:prstGeom>
          <a:noFill/>
        </p:spPr>
        <p:txBody>
          <a:bodyPr wrap="square" anchor="t" lIns="36576" rIns="36576" tIns="18288" bIns="18288">
            <a:spAutoFit/>
          </a:bodyPr>
          <a:lstStyle/>
          <a:p>
            <a:pPr algn="ctr">
              <a:lnSpc>
                <a:spcPct val="105000"/>
              </a:lnSpc>
            </a:pPr>
            <a:r>
              <a:rPr sz="3400" b="1">
                <a:solidFill>
                  <a:srgbClr val="13A89E"/>
                </a:solidFill>
                <a:latin typeface="Calibri"/>
              </a:rPr>
              <a:t>25</a:t>
            </a:r>
          </a:p>
        </p:txBody>
      </p:sp>
      <p:sp>
        <p:nvSpPr>
          <p:cNvPr id="11" name="TextBox 10"/>
          <p:cNvSpPr txBox="1"/>
          <p:nvPr/>
        </p:nvSpPr>
        <p:spPr>
          <a:xfrm>
            <a:off x="3337560" y="2240280"/>
            <a:ext cx="2606040" cy="411480"/>
          </a:xfrm>
          <a:prstGeom prst="rect">
            <a:avLst/>
          </a:prstGeom>
          <a:noFill/>
        </p:spPr>
        <p:txBody>
          <a:bodyPr wrap="square" anchor="t" lIns="36576" rIns="36576" tIns="18288" bIns="18288">
            <a:spAutoFit/>
          </a:bodyPr>
          <a:lstStyle/>
          <a:p>
            <a:pPr algn="ctr">
              <a:lnSpc>
                <a:spcPct val="105000"/>
              </a:lnSpc>
            </a:pPr>
            <a:r>
              <a:rPr sz="1500" b="0">
                <a:solidFill>
                  <a:srgbClr val="5B6B7C"/>
                </a:solidFill>
                <a:latin typeface="Calibri"/>
              </a:rPr>
              <a:t>frontend tests</a:t>
            </a:r>
          </a:p>
        </p:txBody>
      </p:sp>
      <p:sp>
        <p:nvSpPr>
          <p:cNvPr id="12" name="Rounded Rectangle 11"/>
          <p:cNvSpPr/>
          <p:nvPr/>
        </p:nvSpPr>
        <p:spPr>
          <a:xfrm>
            <a:off x="6126479" y="1417320"/>
            <a:ext cx="2606040" cy="1371600"/>
          </a:xfrm>
          <a:prstGeom prst="roundRect">
            <a:avLst>
              <a:gd name="adj" fmla="val 8000"/>
            </a:avLst>
          </a:prstGeom>
          <a:solidFill>
            <a:srgbClr val="F4F6F8"/>
          </a:solidFill>
          <a:ln>
            <a:noFill/>
          </a:ln>
          <a:effectLst/>
        </p:spPr>
        <p:txBody>
          <a:bodyPr rtlCol="0" anchor="ctr"/>
          <a:lstStyle/>
          <a:p>
            <a:pPr algn="ctr"/>
          </a:p>
        </p:txBody>
      </p:sp>
      <p:sp>
        <p:nvSpPr>
          <p:cNvPr id="13" name="TextBox 12"/>
          <p:cNvSpPr txBox="1"/>
          <p:nvPr/>
        </p:nvSpPr>
        <p:spPr>
          <a:xfrm>
            <a:off x="6126479" y="1508760"/>
            <a:ext cx="2606040" cy="685800"/>
          </a:xfrm>
          <a:prstGeom prst="rect">
            <a:avLst/>
          </a:prstGeom>
          <a:noFill/>
        </p:spPr>
        <p:txBody>
          <a:bodyPr wrap="square" anchor="t" lIns="36576" rIns="36576" tIns="18288" bIns="18288">
            <a:spAutoFit/>
          </a:bodyPr>
          <a:lstStyle/>
          <a:p>
            <a:pPr algn="ctr">
              <a:lnSpc>
                <a:spcPct val="105000"/>
              </a:lnSpc>
            </a:pPr>
            <a:r>
              <a:rPr sz="3400" b="1">
                <a:solidFill>
                  <a:srgbClr val="13A89E"/>
                </a:solidFill>
                <a:latin typeface="Calibri"/>
              </a:rPr>
              <a:t>3</a:t>
            </a:r>
          </a:p>
        </p:txBody>
      </p:sp>
      <p:sp>
        <p:nvSpPr>
          <p:cNvPr id="14" name="TextBox 13"/>
          <p:cNvSpPr txBox="1"/>
          <p:nvPr/>
        </p:nvSpPr>
        <p:spPr>
          <a:xfrm>
            <a:off x="6126479" y="2240280"/>
            <a:ext cx="2606040" cy="411480"/>
          </a:xfrm>
          <a:prstGeom prst="rect">
            <a:avLst/>
          </a:prstGeom>
          <a:noFill/>
        </p:spPr>
        <p:txBody>
          <a:bodyPr wrap="square" anchor="t" lIns="36576" rIns="36576" tIns="18288" bIns="18288">
            <a:spAutoFit/>
          </a:bodyPr>
          <a:lstStyle/>
          <a:p>
            <a:pPr algn="ctr">
              <a:lnSpc>
                <a:spcPct val="105000"/>
              </a:lnSpc>
            </a:pPr>
            <a:r>
              <a:rPr sz="1500" b="0">
                <a:solidFill>
                  <a:srgbClr val="5B6B7C"/>
                </a:solidFill>
                <a:latin typeface="Calibri"/>
              </a:rPr>
              <a:t>CI jobs</a:t>
            </a:r>
          </a:p>
        </p:txBody>
      </p:sp>
      <p:sp>
        <p:nvSpPr>
          <p:cNvPr id="15" name="Rounded Rectangle 14"/>
          <p:cNvSpPr/>
          <p:nvPr/>
        </p:nvSpPr>
        <p:spPr>
          <a:xfrm>
            <a:off x="8915399" y="1417320"/>
            <a:ext cx="2606040" cy="1371600"/>
          </a:xfrm>
          <a:prstGeom prst="roundRect">
            <a:avLst>
              <a:gd name="adj" fmla="val 8000"/>
            </a:avLst>
          </a:prstGeom>
          <a:solidFill>
            <a:srgbClr val="F4F6F8"/>
          </a:solidFill>
          <a:ln>
            <a:noFill/>
          </a:ln>
          <a:effectLst/>
        </p:spPr>
        <p:txBody>
          <a:bodyPr rtlCol="0" anchor="ctr"/>
          <a:lstStyle/>
          <a:p>
            <a:pPr algn="ctr"/>
          </a:p>
        </p:txBody>
      </p:sp>
      <p:sp>
        <p:nvSpPr>
          <p:cNvPr id="16" name="TextBox 15"/>
          <p:cNvSpPr txBox="1"/>
          <p:nvPr/>
        </p:nvSpPr>
        <p:spPr>
          <a:xfrm>
            <a:off x="8915399" y="1508760"/>
            <a:ext cx="2606040" cy="685800"/>
          </a:xfrm>
          <a:prstGeom prst="rect">
            <a:avLst/>
          </a:prstGeom>
          <a:noFill/>
        </p:spPr>
        <p:txBody>
          <a:bodyPr wrap="square" anchor="t" lIns="36576" rIns="36576" tIns="18288" bIns="18288">
            <a:spAutoFit/>
          </a:bodyPr>
          <a:lstStyle/>
          <a:p>
            <a:pPr algn="ctr">
              <a:lnSpc>
                <a:spcPct val="105000"/>
              </a:lnSpc>
            </a:pPr>
            <a:r>
              <a:rPr sz="3400" b="1">
                <a:solidFill>
                  <a:srgbClr val="13A89E"/>
                </a:solidFill>
                <a:latin typeface="Calibri"/>
              </a:rPr>
              <a:t>6</a:t>
            </a:r>
          </a:p>
        </p:txBody>
      </p:sp>
      <p:sp>
        <p:nvSpPr>
          <p:cNvPr id="17" name="TextBox 16"/>
          <p:cNvSpPr txBox="1"/>
          <p:nvPr/>
        </p:nvSpPr>
        <p:spPr>
          <a:xfrm>
            <a:off x="8915399" y="2240280"/>
            <a:ext cx="2606040" cy="411480"/>
          </a:xfrm>
          <a:prstGeom prst="rect">
            <a:avLst/>
          </a:prstGeom>
          <a:noFill/>
        </p:spPr>
        <p:txBody>
          <a:bodyPr wrap="square" anchor="t" lIns="36576" rIns="36576" tIns="18288" bIns="18288">
            <a:spAutoFit/>
          </a:bodyPr>
          <a:lstStyle/>
          <a:p>
            <a:pPr algn="ctr">
              <a:lnSpc>
                <a:spcPct val="105000"/>
              </a:lnSpc>
            </a:pPr>
            <a:r>
              <a:rPr sz="1500" b="0">
                <a:solidFill>
                  <a:srgbClr val="5B6B7C"/>
                </a:solidFill>
                <a:latin typeface="Calibri"/>
              </a:rPr>
              <a:t>synthetic profiles</a:t>
            </a:r>
          </a:p>
        </p:txBody>
      </p:sp>
      <p:sp>
        <p:nvSpPr>
          <p:cNvPr id="18" name="TextBox 17"/>
          <p:cNvSpPr txBox="1"/>
          <p:nvPr/>
        </p:nvSpPr>
        <p:spPr>
          <a:xfrm>
            <a:off x="548640" y="3108960"/>
            <a:ext cx="11064240" cy="3108960"/>
          </a:xfrm>
          <a:prstGeom prst="rect">
            <a:avLst/>
          </a:prstGeom>
          <a:noFill/>
        </p:spPr>
        <p:txBody>
          <a:bodyPr wrap="square" anchor="t" lIns="36576" rIns="36576" tIns="18288" bIns="18288">
            <a:spAutoFit/>
          </a:bodyPr>
          <a:lstStyle/>
          <a:p>
            <a:pPr algn="l">
              <a:lnSpc>
                <a:spcPct val="130000"/>
              </a:lnSpc>
            </a:pPr>
            <a:r>
              <a:rPr sz="1600" b="1">
                <a:solidFill>
                  <a:srgbClr val="1E2A38"/>
                </a:solidFill>
                <a:latin typeface="Calibri"/>
              </a:rPr>
              <a:t>CI:</a:t>
            </a:r>
            <a:r>
              <a:rPr sz="1600" b="0">
                <a:solidFill>
                  <a:srgbClr val="1E2A38"/>
                </a:solidFill>
                <a:latin typeface="Calibri"/>
              </a:rPr>
              <a:t> repo guard (no weights, secrets or keys committed), backend (compile + tests), frontend (typecheck + tests + build).</a:t>
            </a:r>
          </a:p>
          <a:p>
            <a:pPr algn="l">
              <a:lnSpc>
                <a:spcPct val="130000"/>
              </a:lnSpc>
            </a:pPr>
            <a:r>
              <a:rPr sz="1600" b="1">
                <a:solidFill>
                  <a:srgbClr val="1E2A38"/>
                </a:solidFill>
                <a:latin typeface="Calibri"/>
              </a:rPr>
              <a:t>Three demo branches tested:</a:t>
            </a:r>
            <a:r>
              <a:rPr sz="1600" b="0">
                <a:solidFill>
                  <a:srgbClr val="1E2A38"/>
                </a:solidFill>
                <a:latin typeface="Calibri"/>
              </a:rPr>
              <a:t> caries → no drug; periapical lesion + infection → amoxicillin; penicillin allergy → clindamycin with warning.</a:t>
            </a:r>
          </a:p>
          <a:p>
            <a:pPr algn="l">
              <a:lnSpc>
                <a:spcPct val="130000"/>
              </a:lnSpc>
            </a:pPr>
            <a:r>
              <a:rPr sz="1600" b="1">
                <a:solidFill>
                  <a:srgbClr val="1E2A38"/>
                </a:solidFill>
                <a:latin typeface="Calibri"/>
              </a:rPr>
              <a:t>HTTP tests:</a:t>
            </a:r>
            <a:r>
              <a:rPr sz="1600" b="0">
                <a:solidFill>
                  <a:srgbClr val="1E2A38"/>
                </a:solidFill>
                <a:latin typeface="Calibri"/>
              </a:rPr>
              <a:t> sign-in required (401), cross-dentist access blocked (404), decision gates enforced (422).</a:t>
            </a:r>
          </a:p>
          <a:p>
            <a:pPr algn="l">
              <a:lnSpc>
                <a:spcPct val="130000"/>
              </a:lnSpc>
            </a:pPr>
            <a:r>
              <a:rPr sz="1600" b="1">
                <a:solidFill>
                  <a:srgbClr val="1E2A38"/>
                </a:solidFill>
                <a:latin typeface="Calibri"/>
              </a:rPr>
              <a:t>Live runs:</a:t>
            </a:r>
            <a:r>
              <a:rPr sz="1600" b="0">
                <a:solidFill>
                  <a:srgbClr val="1E2A38"/>
                </a:solidFill>
                <a:latin typeface="Calibri"/>
              </a:rPr>
              <a:t> full loop on a real Supabase project with throwaway accounts, deleted afterwards.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0972800" cy="640080"/>
          </a:xfrm>
          <a:prstGeom prst="rect">
            <a:avLst/>
          </a:prstGeom>
          <a:noFill/>
        </p:spPr>
        <p:txBody>
          <a:bodyPr wrap="square" anchor="t" lIns="36576" rIns="36576" tIns="18288" bIns="18288">
            <a:spAutoFit/>
          </a:bodyPr>
          <a:lstStyle/>
          <a:p>
            <a:pPr algn="l">
              <a:lnSpc>
                <a:spcPct val="105000"/>
              </a:lnSpc>
            </a:pPr>
            <a:r>
              <a:rPr sz="3000" b="1">
                <a:solidFill>
                  <a:srgbClr val="0B2545"/>
                </a:solidFill>
                <a:latin typeface="Calibri"/>
              </a:rPr>
              <a:t>Backup · Clinical rules</a:t>
            </a:r>
          </a:p>
        </p:txBody>
      </p:sp>
      <p:sp>
        <p:nvSpPr>
          <p:cNvPr id="3" name="Rectangle 2"/>
          <p:cNvSpPr/>
          <p:nvPr/>
        </p:nvSpPr>
        <p:spPr>
          <a:xfrm>
            <a:off x="566928" y="969264"/>
            <a:ext cx="822960" cy="54864"/>
          </a:xfrm>
          <a:prstGeom prst="rect">
            <a:avLst/>
          </a:prstGeom>
          <a:solidFill>
            <a:srgbClr val="13A89E"/>
          </a:solidFill>
          <a:ln>
            <a:noFill/>
          </a:ln>
          <a:effectLst/>
        </p:spPr>
        <p:txBody>
          <a:bodyPr rtlCol="0" anchor="ctr"/>
          <a:lstStyle/>
          <a:p>
            <a:pPr algn="ctr"/>
          </a:p>
        </p:txBody>
      </p:sp>
      <p:sp>
        <p:nvSpPr>
          <p:cNvPr id="4" name="TextBox 3"/>
          <p:cNvSpPr txBox="1"/>
          <p:nvPr/>
        </p:nvSpPr>
        <p:spPr>
          <a:xfrm>
            <a:off x="548640" y="6419088"/>
            <a:ext cx="7315200" cy="274320"/>
          </a:xfrm>
          <a:prstGeom prst="rect">
            <a:avLst/>
          </a:prstGeom>
          <a:noFill/>
        </p:spPr>
        <p:txBody>
          <a:bodyPr wrap="square" anchor="t" lIns="36576" rIns="36576" tIns="18288" bIns="18288">
            <a:spAutoFit/>
          </a:bodyPr>
          <a:lstStyle/>
          <a:p>
            <a:pPr algn="l">
              <a:lnSpc>
                <a:spcPct val="105000"/>
              </a:lnSpc>
            </a:pPr>
            <a:r>
              <a:rPr sz="1000" b="0">
                <a:solidFill>
                  <a:srgbClr val="5B6B7C"/>
                </a:solidFill>
                <a:latin typeface="Calibri"/>
              </a:rPr>
              <a:t>IC-FTAI 2026 · Alexandria University (CDS)</a:t>
            </a:r>
          </a:p>
        </p:txBody>
      </p:sp>
      <p:sp>
        <p:nvSpPr>
          <p:cNvPr id="5" name="TextBox 4"/>
          <p:cNvSpPr txBox="1"/>
          <p:nvPr/>
        </p:nvSpPr>
        <p:spPr>
          <a:xfrm>
            <a:off x="10881360" y="6419088"/>
            <a:ext cx="731520" cy="274320"/>
          </a:xfrm>
          <a:prstGeom prst="rect">
            <a:avLst/>
          </a:prstGeom>
          <a:noFill/>
        </p:spPr>
        <p:txBody>
          <a:bodyPr wrap="square" anchor="t" lIns="36576" rIns="36576" tIns="18288" bIns="18288">
            <a:spAutoFit/>
          </a:bodyPr>
          <a:lstStyle/>
          <a:p>
            <a:pPr algn="r">
              <a:lnSpc>
                <a:spcPct val="105000"/>
              </a:lnSpc>
            </a:pPr>
            <a:r>
              <a:rPr sz="1000" b="0">
                <a:solidFill>
                  <a:srgbClr val="5B6B7C"/>
                </a:solidFill>
                <a:latin typeface="Calibri"/>
              </a:rPr>
              <a:t>14</a:t>
            </a:r>
          </a:p>
        </p:txBody>
      </p:sp>
      <p:sp>
        <p:nvSpPr>
          <p:cNvPr id="6" name="Rounded Rectangle 5"/>
          <p:cNvSpPr/>
          <p:nvPr/>
        </p:nvSpPr>
        <p:spPr>
          <a:xfrm>
            <a:off x="8549640" y="411480"/>
            <a:ext cx="3063240" cy="502920"/>
          </a:xfrm>
          <a:prstGeom prst="roundRect">
            <a:avLst>
              <a:gd name="adj" fmla="val 8000"/>
            </a:avLst>
          </a:prstGeom>
          <a:solidFill>
            <a:srgbClr val="FFFFFF"/>
          </a:solidFill>
          <a:ln w="19050">
            <a:solidFill>
              <a:srgbClr val="F5A623"/>
            </a:solidFill>
          </a:ln>
          <a:effectLst/>
        </p:spPr>
        <p:txBody>
          <a:bodyPr rtlCol="0" anchor="ctr"/>
          <a:lstStyle/>
          <a:p>
            <a:pPr algn="ctr"/>
          </a:p>
        </p:txBody>
      </p:sp>
      <p:sp>
        <p:nvSpPr>
          <p:cNvPr id="7" name="TextBox 6"/>
          <p:cNvSpPr txBox="1"/>
          <p:nvPr/>
        </p:nvSpPr>
        <p:spPr>
          <a:xfrm>
            <a:off x="8549640" y="457200"/>
            <a:ext cx="3063240" cy="411480"/>
          </a:xfrm>
          <a:prstGeom prst="rect">
            <a:avLst/>
          </a:prstGeom>
          <a:noFill/>
        </p:spPr>
        <p:txBody>
          <a:bodyPr wrap="square" anchor="t" lIns="36576" rIns="36576" tIns="18288" bIns="18288">
            <a:spAutoFit/>
          </a:bodyPr>
          <a:lstStyle/>
          <a:p>
            <a:pPr algn="ctr">
              <a:lnSpc>
                <a:spcPct val="105000"/>
              </a:lnSpc>
            </a:pPr>
            <a:r>
              <a:rPr sz="1400" b="1">
                <a:solidFill>
                  <a:srgbClr val="1E2A38"/>
                </a:solidFill>
                <a:latin typeface="Calibri"/>
              </a:rPr>
              <a:t>Pending clinician validation</a:t>
            </a:r>
          </a:p>
        </p:txBody>
      </p:sp>
      <p:graphicFrame>
        <p:nvGraphicFramePr>
          <p:cNvPr id="8" name="Table 7"/>
          <p:cNvGraphicFramePr>
            <a:graphicFrameLocks noGrp="1"/>
          </p:cNvGraphicFramePr>
          <p:nvPr/>
        </p:nvGraphicFramePr>
        <p:xfrm>
          <a:off x="548640" y="1371600"/>
          <a:ext cx="6675120" cy="2286000"/>
        </p:xfrm>
        <a:graphic>
          <a:graphicData uri="http://schemas.openxmlformats.org/drawingml/2006/table">
            <a:tbl>
              <a:tblPr firstRow="1" bandRow="1">
                <a:tableStyleId>{5C22544A-7EE6-4342-B048-85BDC9FD1C3A}</a:tableStyleId>
              </a:tblPr>
              <a:tblGrid>
                <a:gridCol w="1645920"/>
                <a:gridCol w="2834640"/>
                <a:gridCol w="2194560"/>
              </a:tblGrid>
              <a:tr h="457200">
                <a:tc>
                  <a:txBody>
                    <a:bodyPr wrap="square"/>
                    <a:lstStyle/>
                    <a:p>
                      <a:r>
                        <a:rPr sz="1300" b="1">
                          <a:solidFill>
                            <a:srgbClr val="FFFFFF"/>
                          </a:solidFill>
                          <a:latin typeface="Calibri"/>
                        </a:rPr>
                        <a:t>Finding</a:t>
                      </a:r>
                    </a:p>
                  </a:txBody>
                  <a:tcPr marL="73152" marR="73152" marT="27432" marB="27432">
                    <a:solidFill>
                      <a:srgbClr val="0B2545"/>
                    </a:solidFill>
                  </a:tcPr>
                </a:tc>
                <a:tc>
                  <a:txBody>
                    <a:bodyPr wrap="square"/>
                    <a:lstStyle/>
                    <a:p>
                      <a:r>
                        <a:rPr sz="1300" b="1">
                          <a:solidFill>
                            <a:srgbClr val="FFFFFF"/>
                          </a:solidFill>
                          <a:latin typeface="Calibri"/>
                        </a:rPr>
                        <a:t>Proposed treatment</a:t>
                      </a:r>
                    </a:p>
                  </a:txBody>
                  <a:tcPr marL="73152" marR="73152" marT="27432" marB="27432">
                    <a:solidFill>
                      <a:srgbClr val="0B2545"/>
                    </a:solidFill>
                  </a:tcPr>
                </a:tc>
                <a:tc>
                  <a:txBody>
                    <a:bodyPr wrap="square"/>
                    <a:lstStyle/>
                    <a:p>
                      <a:r>
                        <a:rPr sz="1300" b="1">
                          <a:solidFill>
                            <a:srgbClr val="FFFFFF"/>
                          </a:solidFill>
                          <a:latin typeface="Calibri"/>
                        </a:rPr>
                        <a:t>Drugs</a:t>
                      </a:r>
                    </a:p>
                  </a:txBody>
                  <a:tcPr marL="73152" marR="73152" marT="27432" marB="27432">
                    <a:solidFill>
                      <a:srgbClr val="0B2545"/>
                    </a:solidFill>
                  </a:tcPr>
                </a:tc>
              </a:tr>
              <a:tr h="457200">
                <a:tc>
                  <a:txBody>
                    <a:bodyPr wrap="square"/>
                    <a:lstStyle/>
                    <a:p>
                      <a:r>
                        <a:rPr sz="1300" b="1">
                          <a:solidFill>
                            <a:srgbClr val="1E2A38"/>
                          </a:solidFill>
                          <a:latin typeface="Calibri"/>
                        </a:rPr>
                        <a:t>Caries</a:t>
                      </a:r>
                    </a:p>
                  </a:txBody>
                  <a:tcPr marL="73152" marR="73152" marT="27432" marB="27432">
                    <a:solidFill>
                      <a:srgbClr val="F4F6F8"/>
                    </a:solidFill>
                  </a:tcPr>
                </a:tc>
                <a:tc>
                  <a:txBody>
                    <a:bodyPr wrap="square"/>
                    <a:lstStyle/>
                    <a:p>
                      <a:r>
                        <a:rPr sz="1300" b="0">
                          <a:solidFill>
                            <a:srgbClr val="1E2A38"/>
                          </a:solidFill>
                          <a:latin typeface="Calibri"/>
                        </a:rPr>
                        <a:t>Restorative referral</a:t>
                      </a:r>
                    </a:p>
                  </a:txBody>
                  <a:tcPr marL="73152" marR="73152" marT="27432" marB="27432">
                    <a:solidFill>
                      <a:srgbClr val="F4F6F8"/>
                    </a:solidFill>
                  </a:tcPr>
                </a:tc>
                <a:tc>
                  <a:txBody>
                    <a:bodyPr wrap="square"/>
                    <a:lstStyle/>
                    <a:p>
                      <a:r>
                        <a:rPr sz="1300" b="0">
                          <a:solidFill>
                            <a:srgbClr val="1E2A38"/>
                          </a:solidFill>
                          <a:latin typeface="Calibri"/>
                        </a:rPr>
                        <a:t>Never antibiotics</a:t>
                      </a:r>
                    </a:p>
                  </a:txBody>
                  <a:tcPr marL="73152" marR="73152" marT="27432" marB="27432">
                    <a:solidFill>
                      <a:srgbClr val="F4F6F8"/>
                    </a:solidFill>
                  </a:tcPr>
                </a:tc>
              </a:tr>
              <a:tr h="457200">
                <a:tc>
                  <a:txBody>
                    <a:bodyPr wrap="square"/>
                    <a:lstStyle/>
                    <a:p>
                      <a:r>
                        <a:rPr sz="1300" b="1">
                          <a:solidFill>
                            <a:srgbClr val="1E2A38"/>
                          </a:solidFill>
                          <a:latin typeface="Calibri"/>
                        </a:rPr>
                        <a:t>Deep caries</a:t>
                      </a:r>
                    </a:p>
                  </a:txBody>
                  <a:tcPr marL="73152" marR="73152" marT="27432" marB="27432">
                    <a:solidFill>
                      <a:srgbClr val="FFFFFF"/>
                    </a:solidFill>
                  </a:tcPr>
                </a:tc>
                <a:tc>
                  <a:txBody>
                    <a:bodyPr wrap="square"/>
                    <a:lstStyle/>
                    <a:p>
                      <a:r>
                        <a:rPr sz="1300" b="0">
                          <a:solidFill>
                            <a:srgbClr val="1E2A38"/>
                          </a:solidFill>
                          <a:latin typeface="Calibri"/>
                        </a:rPr>
                        <a:t>Pulp capping / endodontic evaluation</a:t>
                      </a:r>
                    </a:p>
                  </a:txBody>
                  <a:tcPr marL="73152" marR="73152" marT="27432" marB="27432">
                    <a:solidFill>
                      <a:srgbClr val="FFFFFF"/>
                    </a:solidFill>
                  </a:tcPr>
                </a:tc>
                <a:tc>
                  <a:txBody>
                    <a:bodyPr wrap="square"/>
                    <a:lstStyle/>
                    <a:p>
                      <a:r>
                        <a:rPr sz="1300" b="0">
                          <a:solidFill>
                            <a:srgbClr val="1E2A38"/>
                          </a:solidFill>
                          <a:latin typeface="Calibri"/>
                        </a:rPr>
                        <a:t>Only if infection reported</a:t>
                      </a:r>
                    </a:p>
                  </a:txBody>
                  <a:tcPr marL="73152" marR="73152" marT="27432" marB="27432">
                    <a:solidFill>
                      <a:srgbClr val="FFFFFF"/>
                    </a:solidFill>
                  </a:tcPr>
                </a:tc>
              </a:tr>
              <a:tr h="457200">
                <a:tc>
                  <a:txBody>
                    <a:bodyPr wrap="square"/>
                    <a:lstStyle/>
                    <a:p>
                      <a:r>
                        <a:rPr sz="1300" b="1">
                          <a:solidFill>
                            <a:srgbClr val="1E2A38"/>
                          </a:solidFill>
                          <a:latin typeface="Calibri"/>
                        </a:rPr>
                        <a:t>Periapical lesion</a:t>
                      </a:r>
                    </a:p>
                  </a:txBody>
                  <a:tcPr marL="73152" marR="73152" marT="27432" marB="27432">
                    <a:solidFill>
                      <a:srgbClr val="F4F6F8"/>
                    </a:solidFill>
                  </a:tcPr>
                </a:tc>
                <a:tc>
                  <a:txBody>
                    <a:bodyPr wrap="square"/>
                    <a:lstStyle/>
                    <a:p>
                      <a:r>
                        <a:rPr sz="1300" b="0">
                          <a:solidFill>
                            <a:srgbClr val="1E2A38"/>
                          </a:solidFill>
                          <a:latin typeface="Calibri"/>
                        </a:rPr>
                        <a:t>Root canal or extraction referral</a:t>
                      </a:r>
                    </a:p>
                  </a:txBody>
                  <a:tcPr marL="73152" marR="73152" marT="27432" marB="27432">
                    <a:solidFill>
                      <a:srgbClr val="F4F6F8"/>
                    </a:solidFill>
                  </a:tcPr>
                </a:tc>
                <a:tc>
                  <a:txBody>
                    <a:bodyPr wrap="square"/>
                    <a:lstStyle/>
                    <a:p>
                      <a:r>
                        <a:rPr sz="1300" b="0">
                          <a:solidFill>
                            <a:srgbClr val="1E2A38"/>
                          </a:solidFill>
                          <a:latin typeface="Calibri"/>
                        </a:rPr>
                        <a:t>Only if infection reported</a:t>
                      </a:r>
                    </a:p>
                  </a:txBody>
                  <a:tcPr marL="73152" marR="73152" marT="27432" marB="27432">
                    <a:solidFill>
                      <a:srgbClr val="F4F6F8"/>
                    </a:solidFill>
                  </a:tcPr>
                </a:tc>
              </a:tr>
              <a:tr h="457200">
                <a:tc>
                  <a:txBody>
                    <a:bodyPr wrap="square"/>
                    <a:lstStyle/>
                    <a:p>
                      <a:r>
                        <a:rPr sz="1300" b="1">
                          <a:solidFill>
                            <a:srgbClr val="1E2A38"/>
                          </a:solidFill>
                          <a:latin typeface="Calibri"/>
                        </a:rPr>
                        <a:t>Impacted tooth</a:t>
                      </a:r>
                    </a:p>
                  </a:txBody>
                  <a:tcPr marL="73152" marR="73152" marT="27432" marB="27432">
                    <a:solidFill>
                      <a:srgbClr val="FFFFFF"/>
                    </a:solidFill>
                  </a:tcPr>
                </a:tc>
                <a:tc>
                  <a:txBody>
                    <a:bodyPr wrap="square"/>
                    <a:lstStyle/>
                    <a:p>
                      <a:r>
                        <a:rPr sz="1300" b="0">
                          <a:solidFill>
                            <a:srgbClr val="1E2A38"/>
                          </a:solidFill>
                          <a:latin typeface="Calibri"/>
                        </a:rPr>
                        <a:t>Oral surgery evaluation</a:t>
                      </a:r>
                    </a:p>
                  </a:txBody>
                  <a:tcPr marL="73152" marR="73152" marT="27432" marB="27432">
                    <a:solidFill>
                      <a:srgbClr val="FFFFFF"/>
                    </a:solidFill>
                  </a:tcPr>
                </a:tc>
                <a:tc>
                  <a:txBody>
                    <a:bodyPr wrap="square"/>
                    <a:lstStyle/>
                    <a:p>
                      <a:r>
                        <a:rPr sz="1300" b="0">
                          <a:solidFill>
                            <a:srgbClr val="1E2A38"/>
                          </a:solidFill>
                          <a:latin typeface="Calibri"/>
                        </a:rPr>
                        <a:t>Prophylaxis only for cardiac risk</a:t>
                      </a:r>
                    </a:p>
                  </a:txBody>
                  <a:tcPr marL="73152" marR="73152" marT="27432" marB="27432">
                    <a:solidFill>
                      <a:srgbClr val="FFFFFF"/>
                    </a:solidFill>
                  </a:tcPr>
                </a:tc>
              </a:tr>
            </a:tbl>
          </a:graphicData>
        </a:graphic>
      </p:graphicFrame>
      <p:sp>
        <p:nvSpPr>
          <p:cNvPr id="9" name="TextBox 8"/>
          <p:cNvSpPr txBox="1"/>
          <p:nvPr/>
        </p:nvSpPr>
        <p:spPr>
          <a:xfrm>
            <a:off x="7498079" y="1371600"/>
            <a:ext cx="4114800" cy="4846320"/>
          </a:xfrm>
          <a:prstGeom prst="rect">
            <a:avLst/>
          </a:prstGeom>
          <a:noFill/>
        </p:spPr>
        <p:txBody>
          <a:bodyPr wrap="square" anchor="t" lIns="36576" rIns="36576" tIns="18288" bIns="18288">
            <a:spAutoFit/>
          </a:bodyPr>
          <a:lstStyle/>
          <a:p>
            <a:pPr algn="l">
              <a:lnSpc>
                <a:spcPct val="130000"/>
              </a:lnSpc>
            </a:pPr>
            <a:r>
              <a:rPr sz="1400" b="1">
                <a:solidFill>
                  <a:srgbClr val="1E2A38"/>
                </a:solidFill>
                <a:latin typeface="Calibri"/>
              </a:rPr>
              <a:t>26 safety rules</a:t>
            </a:r>
            <a:r>
              <a:rPr sz="1400" b="0">
                <a:solidFill>
                  <a:srgbClr val="1E2A38"/>
                </a:solidFill>
                <a:latin typeface="Calibri"/>
              </a:rPr>
              <a:t>, for example:</a:t>
            </a:r>
          </a:p>
          <a:p>
            <a:pPr algn="l">
              <a:lnSpc>
                <a:spcPct val="130000"/>
              </a:lnSpc>
            </a:pPr>
            <a:r>
              <a:rPr sz="1400" b="0">
                <a:solidFill>
                  <a:srgbClr val="1E2A38"/>
                </a:solidFill>
                <a:latin typeface="Calibri"/>
              </a:rPr>
              <a:t>R-01 penicillin allergy → no amoxicillin</a:t>
            </a:r>
          </a:p>
          <a:p>
            <a:pPr algn="l">
              <a:lnSpc>
                <a:spcPct val="130000"/>
              </a:lnSpc>
            </a:pPr>
            <a:r>
              <a:rPr sz="1400" b="0">
                <a:solidFill>
                  <a:srgbClr val="1E2A38"/>
                </a:solidFill>
                <a:latin typeface="Calibri"/>
              </a:rPr>
              <a:t>R-02 ibuprofen + anticoagulant</a:t>
            </a:r>
          </a:p>
          <a:p>
            <a:pPr algn="l">
              <a:lnSpc>
                <a:spcPct val="130000"/>
              </a:lnSpc>
            </a:pPr>
            <a:r>
              <a:rPr sz="1400" b="0">
                <a:solidFill>
                  <a:srgbClr val="1E2A38"/>
                </a:solidFill>
                <a:latin typeface="Calibri"/>
              </a:rPr>
              <a:t>R-14 no clindamycin for prophylaxis (AHA 2021)</a:t>
            </a:r>
          </a:p>
          <a:p>
            <a:pPr algn="l">
              <a:lnSpc>
                <a:spcPct val="130000"/>
              </a:lnSpc>
            </a:pPr>
            <a:r>
              <a:rPr sz="1400" b="0">
                <a:solidFill>
                  <a:srgbClr val="1E2A38"/>
                </a:solidFill>
                <a:latin typeface="Calibri"/>
              </a:rPr>
              <a:t>R-23 daily-dose limits</a:t>
            </a:r>
          </a:p>
          <a:p>
            <a:pPr algn="l">
              <a:lnSpc>
                <a:spcPct val="130000"/>
              </a:lnSpc>
            </a:pPr>
            <a:r>
              <a:rPr sz="1400" b="0">
                <a:solidFill>
                  <a:srgbClr val="1E2A38"/>
                </a:solidFill>
                <a:latin typeface="Calibri"/>
              </a:rPr>
              <a:t>R-18 substitute shown with reason</a:t>
            </a:r>
          </a:p>
          <a:p>
            <a:pPr algn="l">
              <a:lnSpc>
                <a:spcPct val="130000"/>
              </a:lnSpc>
            </a:pPr>
            <a:r>
              <a:rPr sz="1400" b="0">
                <a:solidFill>
                  <a:srgbClr val="1E2A38"/>
                </a:solidFill>
                <a:latin typeface="Calibri"/>
              </a:rPr>
              <a:t>Warning → acknowledge · Contraindicated → written reason</a:t>
            </a:r>
          </a:p>
        </p:txBody>
      </p:sp>
      <p:sp>
        <p:nvSpPr>
          <p:cNvPr id="10" name="TextBox 9"/>
          <p:cNvSpPr txBox="1"/>
          <p:nvPr/>
        </p:nvSpPr>
        <p:spPr>
          <a:xfrm>
            <a:off x="548640" y="4206240"/>
            <a:ext cx="6675120" cy="1463040"/>
          </a:xfrm>
          <a:prstGeom prst="rect">
            <a:avLst/>
          </a:prstGeom>
          <a:noFill/>
        </p:spPr>
        <p:txBody>
          <a:bodyPr wrap="square" anchor="t" lIns="36576" rIns="36576" tIns="18288" bIns="18288">
            <a:spAutoFit/>
          </a:bodyPr>
          <a:lstStyle/>
          <a:p>
            <a:pPr algn="l">
              <a:lnSpc>
                <a:spcPct val="115000"/>
              </a:lnSpc>
            </a:pPr>
            <a:r>
              <a:rPr sz="1300" b="0">
                <a:solidFill>
                  <a:srgbClr val="5B6B7C"/>
                </a:solidFill>
                <a:latin typeface="Calibri"/>
              </a:rPr>
              <a:t>Sources: ADA 2019, AHA 2021, AAPD Reference Manual, AGS Beers 2023. Antibiotics are proposed only when the dentist reports infection (antibiotic stewardship).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